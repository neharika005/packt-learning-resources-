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880" r:id="rId2"/>
    <p:sldId id="2881" r:id="rId3"/>
    <p:sldId id="2882" r:id="rId4"/>
    <p:sldId id="2888" r:id="rId5"/>
    <p:sldId id="2889" r:id="rId6"/>
    <p:sldId id="2892" r:id="rId7"/>
    <p:sldId id="2887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6656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70462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3530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13057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084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dirty="0"/>
              <a:t>Using privileged access to intentionally violate rules or cause threat to the organization’s information or information systems in any form.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There are four types of insider threats: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▪ Malicious Insider</a:t>
            </a:r>
          </a:p>
          <a:p>
            <a:pPr marL="0" indent="0">
              <a:buNone/>
            </a:pPr>
            <a:r>
              <a:rPr lang="en-US" sz="3400" dirty="0"/>
              <a:t>	▪ Negligent Insider</a:t>
            </a:r>
          </a:p>
          <a:p>
            <a:pPr marL="0" indent="0">
              <a:buNone/>
            </a:pPr>
            <a:r>
              <a:rPr lang="en-US" sz="3400" dirty="0"/>
              <a:t>	▪ Professional Insider</a:t>
            </a:r>
          </a:p>
          <a:p>
            <a:pPr marL="0" indent="0">
              <a:buNone/>
            </a:pPr>
            <a:r>
              <a:rPr lang="en-US" sz="3400" dirty="0"/>
              <a:t>	▪ Compromised Insider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Insider Threats?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	Security Awareness Training</a:t>
            </a:r>
          </a:p>
          <a:p>
            <a:pPr marL="0" indent="0">
              <a:buNone/>
            </a:pPr>
            <a:r>
              <a:rPr lang="en-US" sz="3400" dirty="0"/>
              <a:t>	Policies on disclosing of confidential information</a:t>
            </a:r>
          </a:p>
          <a:p>
            <a:pPr marL="0" indent="0">
              <a:buNone/>
            </a:pPr>
            <a:r>
              <a:rPr lang="en-US" sz="3400" dirty="0"/>
              <a:t>	Principle of least privilege</a:t>
            </a:r>
          </a:p>
          <a:p>
            <a:pPr marL="0" indent="0">
              <a:buNone/>
            </a:pPr>
            <a:r>
              <a:rPr lang="en-US" sz="3400" dirty="0"/>
              <a:t>	Separation of Duties</a:t>
            </a:r>
          </a:p>
          <a:p>
            <a:pPr marL="0" indent="0">
              <a:buNone/>
            </a:pPr>
            <a:r>
              <a:rPr lang="en-US" sz="3400" dirty="0"/>
              <a:t>	Background Checks</a:t>
            </a:r>
          </a:p>
          <a:p>
            <a:pPr marL="0" indent="0">
              <a:buNone/>
            </a:pPr>
            <a:r>
              <a:rPr lang="en-US" sz="3400" dirty="0"/>
              <a:t>	Employee Monitoring</a:t>
            </a:r>
          </a:p>
          <a:p>
            <a:pPr marL="0" indent="0">
              <a:buNone/>
            </a:pPr>
            <a:r>
              <a:rPr lang="en-US" sz="3400" dirty="0"/>
              <a:t>	Regular Auditing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Preparation steps for Handling Insider Threats?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	Look for indicators of insider threat activity</a:t>
            </a:r>
          </a:p>
          <a:p>
            <a:pPr marL="0" indent="0">
              <a:buNone/>
            </a:pPr>
            <a:r>
              <a:rPr lang="en-US" sz="3400" dirty="0"/>
              <a:t>	Mole Detection/Profiling</a:t>
            </a:r>
          </a:p>
          <a:p>
            <a:pPr marL="0" indent="0">
              <a:buNone/>
            </a:pPr>
            <a:r>
              <a:rPr lang="en-US" sz="3400" dirty="0"/>
              <a:t>	Behavioral Analysis</a:t>
            </a:r>
          </a:p>
          <a:p>
            <a:pPr marL="0" indent="0">
              <a:buNone/>
            </a:pPr>
            <a:r>
              <a:rPr lang="en-US" sz="3400" dirty="0"/>
              <a:t>	Physical (facility) security analysis</a:t>
            </a:r>
          </a:p>
          <a:p>
            <a:pPr marL="0" indent="0">
              <a:buNone/>
            </a:pPr>
            <a:r>
              <a:rPr lang="en-US" sz="3400" dirty="0"/>
              <a:t>	Log Analysis</a:t>
            </a:r>
          </a:p>
          <a:p>
            <a:pPr marL="0" indent="0">
              <a:buNone/>
            </a:pPr>
            <a:r>
              <a:rPr lang="en-US" sz="3400" dirty="0"/>
              <a:t>	System Analysis – </a:t>
            </a:r>
          </a:p>
          <a:p>
            <a:pPr marL="0" indent="0">
              <a:buNone/>
            </a:pPr>
            <a:r>
              <a:rPr lang="en-US" sz="3400" dirty="0"/>
              <a:t>		Removeable Media &amp; Web Browsers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can I Detect and Analyze Insider Threats?</a:t>
            </a:r>
          </a:p>
        </p:txBody>
      </p:sp>
    </p:spTree>
    <p:extLst>
      <p:ext uri="{BB962C8B-B14F-4D97-AF65-F5344CB8AC3E}">
        <p14:creationId xmlns:p14="http://schemas.microsoft.com/office/powerpoint/2010/main" val="244317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Windows:</a:t>
            </a:r>
            <a:r>
              <a:rPr lang="en-US" sz="3400" dirty="0"/>
              <a:t> History of connected USB drives is in the following registry key: HKEY_LOCAL_MACHINE\SYSTEM \</a:t>
            </a:r>
            <a:r>
              <a:rPr lang="en-US" sz="3400" dirty="0" err="1"/>
              <a:t>CurrentControlSet</a:t>
            </a:r>
            <a:r>
              <a:rPr lang="en-US" sz="3400" dirty="0"/>
              <a:t>\Enum\USB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Mac O/S:</a:t>
            </a:r>
            <a:r>
              <a:rPr lang="en-US" sz="3400" dirty="0"/>
              <a:t> Click the Apple menu button and select About This Mac option; Click the System Report In the System Information window, go to the Hardware section on the left side and select the USB option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Linux:</a:t>
            </a:r>
            <a:r>
              <a:rPr lang="en-US" sz="3400" dirty="0"/>
              <a:t> Open the command console &amp; run the </a:t>
            </a:r>
            <a:r>
              <a:rPr lang="en-US" sz="3400" dirty="0" err="1"/>
              <a:t>usb</a:t>
            </a:r>
            <a:r>
              <a:rPr lang="en-US" sz="3400" dirty="0"/>
              <a:t>-devices command to list all the connected USB devices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>
            <a:normAutofit/>
          </a:bodyPr>
          <a:lstStyle/>
          <a:p>
            <a:r>
              <a:rPr lang="en-US" dirty="0"/>
              <a:t>How can I Detect and Analyze Insider Threats - Removeable Media Usage:</a:t>
            </a:r>
          </a:p>
        </p:txBody>
      </p:sp>
    </p:spTree>
    <p:extLst>
      <p:ext uri="{BB962C8B-B14F-4D97-AF65-F5344CB8AC3E}">
        <p14:creationId xmlns:p14="http://schemas.microsoft.com/office/powerpoint/2010/main" val="74207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Firefox</a:t>
            </a:r>
          </a:p>
          <a:p>
            <a:pPr marL="0" indent="0">
              <a:buNone/>
            </a:pPr>
            <a:r>
              <a:rPr lang="en-US" sz="3400" dirty="0"/>
              <a:t>Chrome</a:t>
            </a:r>
          </a:p>
          <a:p>
            <a:pPr marL="0" indent="0">
              <a:buNone/>
            </a:pPr>
            <a:r>
              <a:rPr lang="en-US" sz="3400" dirty="0"/>
              <a:t>Microsoft Edge</a:t>
            </a:r>
          </a:p>
          <a:p>
            <a:pPr marL="0" indent="0">
              <a:buNone/>
            </a:pPr>
            <a:r>
              <a:rPr lang="en-US" sz="3400" dirty="0"/>
              <a:t>	Cache</a:t>
            </a:r>
          </a:p>
          <a:p>
            <a:pPr marL="0" indent="0">
              <a:buNone/>
            </a:pPr>
            <a:r>
              <a:rPr lang="en-US" sz="3400" dirty="0"/>
              <a:t>	Cookies</a:t>
            </a:r>
          </a:p>
          <a:p>
            <a:pPr marL="0" indent="0">
              <a:buNone/>
            </a:pPr>
            <a:r>
              <a:rPr lang="en-US" sz="3400" dirty="0"/>
              <a:t>	History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>
            <a:normAutofit/>
          </a:bodyPr>
          <a:lstStyle/>
          <a:p>
            <a:r>
              <a:rPr lang="en-US" dirty="0"/>
              <a:t>How can I Detect and Analyze Insider Threats – Web Browsers Data:</a:t>
            </a:r>
          </a:p>
        </p:txBody>
      </p:sp>
    </p:spTree>
    <p:extLst>
      <p:ext uri="{BB962C8B-B14F-4D97-AF65-F5344CB8AC3E}">
        <p14:creationId xmlns:p14="http://schemas.microsoft.com/office/powerpoint/2010/main" val="95079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dirty="0"/>
              <a:t>Database Analysis: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Transaction logs </a:t>
            </a:r>
          </a:p>
          <a:p>
            <a:pPr marL="0" indent="0">
              <a:buNone/>
            </a:pPr>
            <a:r>
              <a:rPr lang="en-US" sz="3400" dirty="0"/>
              <a:t>	Error logs </a:t>
            </a:r>
          </a:p>
          <a:p>
            <a:pPr marL="0" indent="0">
              <a:buNone/>
            </a:pPr>
            <a:r>
              <a:rPr lang="en-US" sz="3400" dirty="0"/>
              <a:t>	Trace files </a:t>
            </a:r>
          </a:p>
          <a:p>
            <a:pPr marL="0" indent="0">
              <a:buNone/>
            </a:pPr>
            <a:r>
              <a:rPr lang="en-US" sz="3400" dirty="0"/>
              <a:t>	Link files </a:t>
            </a:r>
          </a:p>
          <a:p>
            <a:pPr marL="0" indent="0">
              <a:buNone/>
            </a:pPr>
            <a:r>
              <a:rPr lang="en-US" sz="3400" dirty="0"/>
              <a:t>	Volatile database information</a:t>
            </a:r>
          </a:p>
          <a:p>
            <a:pPr marL="0" indent="0">
              <a:buNone/>
            </a:pPr>
            <a:r>
              <a:rPr lang="en-US" sz="3400" dirty="0"/>
              <a:t>	DBCC logs </a:t>
            </a:r>
          </a:p>
          <a:p>
            <a:pPr marL="0" indent="0">
              <a:buNone/>
            </a:pPr>
            <a:r>
              <a:rPr lang="en-US" sz="3400" dirty="0"/>
              <a:t>	Database plan cache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can I Detect and Analyze Insider Threats?</a:t>
            </a:r>
          </a:p>
        </p:txBody>
      </p:sp>
    </p:spTree>
    <p:extLst>
      <p:ext uri="{BB962C8B-B14F-4D97-AF65-F5344CB8AC3E}">
        <p14:creationId xmlns:p14="http://schemas.microsoft.com/office/powerpoint/2010/main" val="17026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dirty="0"/>
              <a:t>	Access Control</a:t>
            </a:r>
          </a:p>
          <a:p>
            <a:pPr marL="0" indent="0">
              <a:buNone/>
            </a:pPr>
            <a:r>
              <a:rPr lang="en-US" sz="3400" dirty="0"/>
              <a:t>	Encryption</a:t>
            </a:r>
          </a:p>
          <a:p>
            <a:pPr marL="0" indent="0">
              <a:buNone/>
            </a:pPr>
            <a:r>
              <a:rPr lang="en-US" sz="3400" dirty="0"/>
              <a:t>	Change Passwords</a:t>
            </a:r>
          </a:p>
          <a:p>
            <a:pPr marL="0" indent="0">
              <a:buNone/>
            </a:pPr>
            <a:r>
              <a:rPr lang="en-US" sz="3400" dirty="0"/>
              <a:t>	Data Centric Audit and Protection (DCAP)</a:t>
            </a:r>
          </a:p>
          <a:p>
            <a:pPr marL="0" indent="0">
              <a:buNone/>
            </a:pPr>
            <a:r>
              <a:rPr lang="en-US" sz="3400" dirty="0"/>
              <a:t>	HR Oversight</a:t>
            </a:r>
          </a:p>
          <a:p>
            <a:pPr marL="0" indent="0">
              <a:buNone/>
            </a:pPr>
            <a:r>
              <a:rPr lang="en-US" sz="3400" dirty="0"/>
              <a:t>	Privileged Users</a:t>
            </a:r>
          </a:p>
          <a:p>
            <a:pPr marL="0" indent="0">
              <a:buNone/>
            </a:pPr>
            <a:r>
              <a:rPr lang="en-US" sz="3400" dirty="0"/>
              <a:t>	Audit Trails and Log Monitoring</a:t>
            </a:r>
          </a:p>
          <a:p>
            <a:pPr marL="0" indent="0">
              <a:buNone/>
            </a:pPr>
            <a:r>
              <a:rPr lang="en-US" sz="3400" dirty="0"/>
              <a:t>	Network Security 	</a:t>
            </a:r>
          </a:p>
          <a:p>
            <a:pPr marL="0" indent="0">
              <a:buNone/>
            </a:pPr>
            <a:r>
              <a:rPr lang="en-US" sz="3400" dirty="0"/>
              <a:t>	Physical Security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Containment &amp; Eradication of Insider Threats?</a:t>
            </a:r>
          </a:p>
        </p:txBody>
      </p:sp>
    </p:spTree>
    <p:extLst>
      <p:ext uri="{BB962C8B-B14F-4D97-AF65-F5344CB8AC3E}">
        <p14:creationId xmlns:p14="http://schemas.microsoft.com/office/powerpoint/2010/main" val="199379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9D084857-5E4F-4C8E-8B49-20C97FD0B622}"/>
</file>

<file path=customXml/itemProps2.xml><?xml version="1.0" encoding="utf-8"?>
<ds:datastoreItem xmlns:ds="http://schemas.openxmlformats.org/officeDocument/2006/customXml" ds:itemID="{E5A27BC1-6E0A-4B2E-9794-CD2125792FA9}"/>
</file>

<file path=customXml/itemProps3.xml><?xml version="1.0" encoding="utf-8"?>
<ds:datastoreItem xmlns:ds="http://schemas.openxmlformats.org/officeDocument/2006/customXml" ds:itemID="{27D2A81F-4831-40AD-AF22-16A86F34CD36}"/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344</Words>
  <Application>Microsoft Office PowerPoint</Application>
  <PresentationFormat>Widescreen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Insider Threats?</vt:lpstr>
      <vt:lpstr>What are the Preparation steps for Handling Insider Threats?</vt:lpstr>
      <vt:lpstr>How can I Detect and Analyze Insider Threats?</vt:lpstr>
      <vt:lpstr>How can I Detect and Analyze Insider Threats - Removeable Media Usage:</vt:lpstr>
      <vt:lpstr>How can I Detect and Analyze Insider Threats – Web Browsers Data:</vt:lpstr>
      <vt:lpstr>How can I Detect and Analyze Insider Threats?</vt:lpstr>
      <vt:lpstr>What about Containment &amp; Eradication of Insider Threats?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87</cp:revision>
  <cp:lastPrinted>2020-04-29T19:12:33Z</cp:lastPrinted>
  <dcterms:created xsi:type="dcterms:W3CDTF">2020-04-24T18:08:50Z</dcterms:created>
  <dcterms:modified xsi:type="dcterms:W3CDTF">2020-08-26T17:35:48Z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