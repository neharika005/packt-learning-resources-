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880" r:id="rId2"/>
    <p:sldId id="2889" r:id="rId3"/>
    <p:sldId id="2890" r:id="rId4"/>
    <p:sldId id="2891" r:id="rId5"/>
    <p:sldId id="2892" r:id="rId6"/>
    <p:sldId id="2882" r:id="rId7"/>
    <p:sldId id="2893" r:id="rId8"/>
    <p:sldId id="2894" r:id="rId9"/>
    <p:sldId id="2895" r:id="rId10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01011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66386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65806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69445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5003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7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19672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8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76211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9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29062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dirty="0"/>
              <a:t>Limit the length of user input</a:t>
            </a:r>
          </a:p>
          <a:p>
            <a:r>
              <a:rPr lang="en-US" sz="3400" dirty="0"/>
              <a:t>Monitor DB traffic using an IDS, WAF</a:t>
            </a:r>
          </a:p>
          <a:p>
            <a:r>
              <a:rPr lang="en-US" sz="3400" dirty="0"/>
              <a:t>Disable commands like </a:t>
            </a:r>
            <a:r>
              <a:rPr lang="en-US" sz="3400" dirty="0" err="1"/>
              <a:t>xp_cmdshell</a:t>
            </a:r>
            <a:endParaRPr lang="en-US" sz="3400" dirty="0"/>
          </a:p>
          <a:p>
            <a:r>
              <a:rPr lang="en-US" sz="3400" dirty="0"/>
              <a:t>Run database service account with minimal rights</a:t>
            </a:r>
          </a:p>
          <a:p>
            <a:r>
              <a:rPr lang="en-US" sz="3400" dirty="0"/>
              <a:t>Move extended stored procedures to an isolated server</a:t>
            </a:r>
          </a:p>
          <a:p>
            <a:r>
              <a:rPr lang="en-US" sz="3400" dirty="0"/>
              <a:t>Use </a:t>
            </a:r>
            <a:r>
              <a:rPr lang="en-US" sz="3400" dirty="0" err="1"/>
              <a:t>typesafe</a:t>
            </a:r>
            <a:r>
              <a:rPr lang="en-US" sz="3400" dirty="0"/>
              <a:t> variables or functions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different ways to eradicate SQL injection attacks?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77500" lnSpcReduction="20000"/>
          </a:bodyPr>
          <a:lstStyle/>
          <a:p>
            <a:r>
              <a:rPr lang="en-US" sz="3400" dirty="0"/>
              <a:t>Verify whether all the users’ identities and credentials are stored in a hashed form</a:t>
            </a:r>
          </a:p>
          <a:p>
            <a:r>
              <a:rPr lang="en-US" sz="3400" dirty="0"/>
              <a:t>Use multi-factor authentication </a:t>
            </a:r>
          </a:p>
          <a:p>
            <a:r>
              <a:rPr lang="en-US" sz="3400" dirty="0"/>
              <a:t>Impose restrictions on the minimum length and complexity of the password</a:t>
            </a:r>
          </a:p>
          <a:p>
            <a:r>
              <a:rPr lang="en-US" sz="3400" dirty="0"/>
              <a:t>Provide defined number of login attempts to the user and log the number of failed login attempts </a:t>
            </a:r>
          </a:p>
          <a:p>
            <a:r>
              <a:rPr lang="en-US" sz="3400" dirty="0"/>
              <a:t>System should not specify whether it was the username or password that was entered incorrectly at the time of failed login attempt </a:t>
            </a:r>
          </a:p>
          <a:p>
            <a:r>
              <a:rPr lang="en-US" sz="3400" dirty="0"/>
              <a:t>Ensure Session IDs are not in the URL and are stored securely as well as invalidated after logout, idle, and timeouts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different ways to eradicate broken authentication and session management attacks?</a:t>
            </a:r>
          </a:p>
        </p:txBody>
      </p:sp>
    </p:spTree>
    <p:extLst>
      <p:ext uri="{BB962C8B-B14F-4D97-AF65-F5344CB8AC3E}">
        <p14:creationId xmlns:p14="http://schemas.microsoft.com/office/powerpoint/2010/main" val="135421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dirty="0"/>
              <a:t>Identify sensitive data through classification as per organizational policies or business needs</a:t>
            </a:r>
          </a:p>
          <a:p>
            <a:r>
              <a:rPr lang="en-US" sz="3400" dirty="0"/>
              <a:t>Ensure that all the sensitive data is encrypted and is not stored unnecessarily </a:t>
            </a:r>
          </a:p>
          <a:p>
            <a:r>
              <a:rPr lang="en-US" sz="3400" dirty="0"/>
              <a:t>Do not use weak cryptographic algorithms</a:t>
            </a:r>
          </a:p>
          <a:p>
            <a:r>
              <a:rPr lang="en-US" sz="3400" dirty="0"/>
              <a:t>Generate encryption keys offline and store them securely</a:t>
            </a:r>
          </a:p>
          <a:p>
            <a:r>
              <a:rPr lang="en-US" sz="3400" dirty="0"/>
              <a:t>Use proper key management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different ways to eradicate sensitive data exposure attacks?</a:t>
            </a:r>
          </a:p>
        </p:txBody>
      </p:sp>
    </p:spTree>
    <p:extLst>
      <p:ext uri="{BB962C8B-B14F-4D97-AF65-F5344CB8AC3E}">
        <p14:creationId xmlns:p14="http://schemas.microsoft.com/office/powerpoint/2010/main" val="142237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dirty="0"/>
              <a:t>Parse the document with a securely configured parser</a:t>
            </a:r>
          </a:p>
          <a:p>
            <a:r>
              <a:rPr lang="en-US" sz="3400" dirty="0"/>
              <a:t>Configure the XML processor to use local static document type definition (DTD) and disable any declared DTD included in XML document </a:t>
            </a:r>
          </a:p>
          <a:p>
            <a:r>
              <a:rPr lang="en-US" sz="3400" dirty="0"/>
              <a:t>Ensure all XML processors and libraries that are used by the web application or on the underlying operating system are patched or upgraded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different ways to eradicate XML External Entity attacks?</a:t>
            </a:r>
          </a:p>
        </p:txBody>
      </p:sp>
    </p:spTree>
    <p:extLst>
      <p:ext uri="{BB962C8B-B14F-4D97-AF65-F5344CB8AC3E}">
        <p14:creationId xmlns:p14="http://schemas.microsoft.com/office/powerpoint/2010/main" val="201625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lnSpcReduction="10000"/>
          </a:bodyPr>
          <a:lstStyle/>
          <a:p>
            <a:r>
              <a:rPr lang="en-US" sz="3400" dirty="0"/>
              <a:t>Ensure that the application performs proper validation of all the parameters of a user request such as headers, cookies, query strings, form fields, and hidden fields against a rigorous specification</a:t>
            </a:r>
          </a:p>
          <a:p>
            <a:r>
              <a:rPr lang="en-US" sz="3400" dirty="0"/>
              <a:t>Use testing tools extensively during the design phase to eliminate XSS vulnerabilities in the application before it goes into use </a:t>
            </a:r>
          </a:p>
          <a:p>
            <a:r>
              <a:rPr lang="en-US" sz="3400" dirty="0"/>
              <a:t>Deploy web application firewalls (WAFs) to block malicious files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different ways to eradicate XSS attacks?</a:t>
            </a:r>
          </a:p>
        </p:txBody>
      </p:sp>
    </p:spTree>
    <p:extLst>
      <p:ext uri="{BB962C8B-B14F-4D97-AF65-F5344CB8AC3E}">
        <p14:creationId xmlns:p14="http://schemas.microsoft.com/office/powerpoint/2010/main" val="810760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URL Encoding</a:t>
            </a:r>
            <a:r>
              <a:rPr lang="en-US" sz="3400" dirty="0"/>
              <a:t> - the process of converting URL into valid ASCII format so that data can be safely transported over HTTP.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URL encoding replaces unusual ASCII characters with "%" followed by the character’s two-digit ASCII code expressed in hexadecimal such as: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o %3d = </a:t>
            </a:r>
          </a:p>
          <a:p>
            <a:pPr marL="0" indent="0">
              <a:buNone/>
            </a:pPr>
            <a:r>
              <a:rPr lang="en-US" sz="3400" dirty="0"/>
              <a:t>	o %0a New line </a:t>
            </a:r>
          </a:p>
          <a:p>
            <a:pPr marL="0" indent="0">
              <a:buNone/>
            </a:pPr>
            <a:r>
              <a:rPr lang="en-US" sz="3400" dirty="0"/>
              <a:t>	o %20 space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different types of Encoding Schemes?</a:t>
            </a:r>
          </a:p>
        </p:txBody>
      </p:sp>
    </p:spTree>
    <p:extLst>
      <p:ext uri="{BB962C8B-B14F-4D97-AF65-F5344CB8AC3E}">
        <p14:creationId xmlns:p14="http://schemas.microsoft.com/office/powerpoint/2010/main" val="84077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HTML Encoding</a:t>
            </a:r>
            <a:r>
              <a:rPr lang="en-US" sz="3400" dirty="0"/>
              <a:t> - replaces unusual characters with strings that HTML can recognize, while the various characters define structure of the document.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It defines several HTML entities to represent particularly usual characters such as: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o &amp;amp; &amp; </a:t>
            </a:r>
          </a:p>
          <a:p>
            <a:pPr marL="0" indent="0">
              <a:buNone/>
            </a:pPr>
            <a:r>
              <a:rPr lang="en-US" sz="3400" dirty="0"/>
              <a:t>	o &amp;</a:t>
            </a:r>
            <a:r>
              <a:rPr lang="en-US" sz="3400" dirty="0" err="1"/>
              <a:t>lt</a:t>
            </a:r>
            <a:r>
              <a:rPr lang="en-US" sz="3400" dirty="0"/>
              <a:t>; &lt; </a:t>
            </a:r>
          </a:p>
          <a:p>
            <a:pPr marL="0" indent="0">
              <a:buNone/>
            </a:pPr>
            <a:r>
              <a:rPr lang="en-US" sz="3400" dirty="0"/>
              <a:t>	o &amp;</a:t>
            </a:r>
            <a:r>
              <a:rPr lang="en-US" sz="3400" dirty="0" err="1"/>
              <a:t>gt</a:t>
            </a:r>
            <a:r>
              <a:rPr lang="en-US" sz="3400" dirty="0"/>
              <a:t>; &gt;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different types of Encoding Schemes?</a:t>
            </a:r>
          </a:p>
        </p:txBody>
      </p:sp>
    </p:spTree>
    <p:extLst>
      <p:ext uri="{BB962C8B-B14F-4D97-AF65-F5344CB8AC3E}">
        <p14:creationId xmlns:p14="http://schemas.microsoft.com/office/powerpoint/2010/main" val="24554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dirty="0"/>
              <a:t>Unicode Encoding -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16-bit Unicode Encoding</a:t>
            </a:r>
            <a:r>
              <a:rPr lang="en-US" sz="3400" dirty="0"/>
              <a:t> - replaces unusual Unicode characters with "%u" followed by the character’s Unicode codepoint expressed in hexadecimal. </a:t>
            </a:r>
          </a:p>
          <a:p>
            <a:pPr marL="0" indent="0">
              <a:buNone/>
            </a:pPr>
            <a:r>
              <a:rPr lang="en-US" sz="3400" dirty="0"/>
              <a:t>				%u2215  /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UTF-8</a:t>
            </a:r>
            <a:r>
              <a:rPr lang="en-US" sz="3400" dirty="0"/>
              <a:t> -  uses each byte expressed in hexadecimal and preceded by the % prefix. </a:t>
            </a:r>
          </a:p>
          <a:p>
            <a:pPr marL="0" indent="0">
              <a:buNone/>
            </a:pPr>
            <a:r>
              <a:rPr lang="en-US" sz="3400" dirty="0"/>
              <a:t>				%c2%a9  ©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different types of Encoding Schemes?</a:t>
            </a:r>
          </a:p>
        </p:txBody>
      </p:sp>
    </p:spTree>
    <p:extLst>
      <p:ext uri="{BB962C8B-B14F-4D97-AF65-F5344CB8AC3E}">
        <p14:creationId xmlns:p14="http://schemas.microsoft.com/office/powerpoint/2010/main" val="323341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sz="3400" b="1" dirty="0"/>
          </a:p>
          <a:p>
            <a:pPr marL="0" indent="0">
              <a:buNone/>
            </a:pPr>
            <a:r>
              <a:rPr lang="en-US" sz="3400" b="1" dirty="0"/>
              <a:t>Hex Encoding</a:t>
            </a:r>
            <a:r>
              <a:rPr lang="en-US" sz="3400" dirty="0"/>
              <a:t> - a transfer encoding in which each byte is converted to the 2-digit base-16 encoding of that byte (preserving leading zeroes), which is then usually encoded in ASCII.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It is inefficient, but it is a simple, commonly-used way to represent binary data in plain text.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		"Hex encoding test" = </a:t>
            </a:r>
          </a:p>
          <a:p>
            <a:pPr marL="0" indent="0">
              <a:buNone/>
            </a:pPr>
            <a:r>
              <a:rPr lang="en-US" sz="3400" dirty="0"/>
              <a:t>48657820656e636f64696e6720746573740a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different types of Encoding Schemes?</a:t>
            </a:r>
          </a:p>
        </p:txBody>
      </p:sp>
    </p:spTree>
    <p:extLst>
      <p:ext uri="{BB962C8B-B14F-4D97-AF65-F5344CB8AC3E}">
        <p14:creationId xmlns:p14="http://schemas.microsoft.com/office/powerpoint/2010/main" val="2308026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E07B42D9-041E-4C9E-A550-EE3970C306E6}"/>
</file>

<file path=customXml/itemProps2.xml><?xml version="1.0" encoding="utf-8"?>
<ds:datastoreItem xmlns:ds="http://schemas.openxmlformats.org/officeDocument/2006/customXml" ds:itemID="{A867EA2B-9228-4EA1-9104-B88158102872}"/>
</file>

<file path=customXml/itemProps3.xml><?xml version="1.0" encoding="utf-8"?>
<ds:datastoreItem xmlns:ds="http://schemas.openxmlformats.org/officeDocument/2006/customXml" ds:itemID="{AD8142B3-29F7-443E-98C0-08FB8B97D5B9}"/>
</file>

<file path=docProps/app.xml><?xml version="1.0" encoding="utf-8"?>
<Properties xmlns="http://schemas.openxmlformats.org/officeDocument/2006/extended-properties" xmlns:vt="http://schemas.openxmlformats.org/officeDocument/2006/docPropsVTypes">
  <TotalTime>2648</TotalTime>
  <Words>629</Words>
  <Application>Microsoft Office PowerPoint</Application>
  <PresentationFormat>Widescreen</PresentationFormat>
  <Paragraphs>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are the different ways to eradicate SQL injection attacks?</vt:lpstr>
      <vt:lpstr>What are the different ways to eradicate broken authentication and session management attacks?</vt:lpstr>
      <vt:lpstr>What are the different ways to eradicate sensitive data exposure attacks?</vt:lpstr>
      <vt:lpstr>What are the different ways to eradicate XML External Entity attacks?</vt:lpstr>
      <vt:lpstr>What are the different ways to eradicate XSS attacks?</vt:lpstr>
      <vt:lpstr>What are the different types of Encoding Schemes?</vt:lpstr>
      <vt:lpstr>What are the different types of Encoding Schemes?</vt:lpstr>
      <vt:lpstr>What are the different types of Encoding Schemes?</vt:lpstr>
      <vt:lpstr>What are the different types of Encoding Schemes?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141</cp:revision>
  <cp:lastPrinted>2020-04-29T19:12:33Z</cp:lastPrinted>
  <dcterms:created xsi:type="dcterms:W3CDTF">2020-04-24T18:08:50Z</dcterms:created>
  <dcterms:modified xsi:type="dcterms:W3CDTF">2020-09-25T15:06:33Z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