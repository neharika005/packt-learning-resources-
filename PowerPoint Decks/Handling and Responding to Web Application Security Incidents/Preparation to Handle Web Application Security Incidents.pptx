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882" r:id="rId3"/>
    <p:sldId id="2883" r:id="rId4"/>
    <p:sldId id="2885" r:id="rId5"/>
    <p:sldId id="2884" r:id="rId6"/>
    <p:sldId id="2886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4814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892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944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Client or presentation layer</a:t>
            </a:r>
            <a:r>
              <a:rPr lang="en-US" sz="3400" dirty="0"/>
              <a:t> - physical devices present on the client side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Business logic layer:</a:t>
            </a:r>
          </a:p>
          <a:p>
            <a:pPr lvl="3"/>
            <a:r>
              <a:rPr lang="en-US" sz="2800" dirty="0"/>
              <a:t> </a:t>
            </a:r>
            <a:r>
              <a:rPr lang="en-US" sz="2800" b="1" dirty="0"/>
              <a:t>Web-server logic layer</a:t>
            </a:r>
            <a:r>
              <a:rPr lang="en-US" sz="2800" dirty="0"/>
              <a:t> - all coding that reads data from the browser and returns the results</a:t>
            </a:r>
          </a:p>
          <a:p>
            <a:pPr lvl="3"/>
            <a:r>
              <a:rPr lang="en-US" sz="2800" dirty="0"/>
              <a:t> </a:t>
            </a:r>
            <a:r>
              <a:rPr lang="en-US" sz="2800" b="1" dirty="0"/>
              <a:t>Business logic layer</a:t>
            </a:r>
            <a:r>
              <a:rPr lang="en-US" sz="2800" dirty="0"/>
              <a:t> - the functional logic of the web 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Database layer</a:t>
            </a:r>
            <a:r>
              <a:rPr lang="en-US" sz="3400" dirty="0"/>
              <a:t> - holds all the commercial transactions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Web Application Architecture?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Insecure Coding</a:t>
            </a:r>
          </a:p>
          <a:p>
            <a:r>
              <a:rPr lang="en-US" sz="3400" dirty="0"/>
              <a:t>Configuration Errors</a:t>
            </a:r>
          </a:p>
          <a:p>
            <a:r>
              <a:rPr lang="en-US" sz="3400" dirty="0"/>
              <a:t>Platform Vulnerabilities</a:t>
            </a:r>
          </a:p>
          <a:p>
            <a:r>
              <a:rPr lang="en-US" sz="3400" dirty="0"/>
              <a:t>Logic Errors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causes of web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endParaRPr lang="en-US" sz="3400" dirty="0"/>
          </a:p>
          <a:p>
            <a:r>
              <a:rPr lang="en-US" sz="3400" dirty="0"/>
              <a:t>Develop incident handling plan for most common web incidents </a:t>
            </a:r>
          </a:p>
          <a:p>
            <a:r>
              <a:rPr lang="en-US" sz="3400" dirty="0"/>
              <a:t>Maintain and keep ready a backup website </a:t>
            </a:r>
          </a:p>
          <a:p>
            <a:r>
              <a:rPr lang="en-US" sz="3400" dirty="0"/>
              <a:t>Plan to maintain continuity of internet services </a:t>
            </a:r>
          </a:p>
          <a:p>
            <a:r>
              <a:rPr lang="en-US" sz="3400" dirty="0"/>
              <a:t>Maintain a comprehensive contact list </a:t>
            </a:r>
          </a:p>
          <a:p>
            <a:r>
              <a:rPr lang="en-US" sz="3400" dirty="0"/>
              <a:t>Create a whitelist of all critical IP addresses and protocols </a:t>
            </a:r>
          </a:p>
          <a:p>
            <a:r>
              <a:rPr lang="en-US" sz="3400" dirty="0"/>
              <a:t>Maintain an inventory of organizational IT Infrastructure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to handle Web Application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Maintain a Disaster Recovery Plan </a:t>
            </a:r>
          </a:p>
          <a:p>
            <a:r>
              <a:rPr lang="en-US" sz="3400" dirty="0"/>
              <a:t>Deploy monitoring tools to detect abnormal activities</a:t>
            </a:r>
          </a:p>
          <a:p>
            <a:r>
              <a:rPr lang="en-US" sz="3400" dirty="0"/>
              <a:t>Design and maintain good network infrastructure </a:t>
            </a:r>
          </a:p>
          <a:p>
            <a:r>
              <a:rPr lang="en-US" sz="3400" dirty="0"/>
              <a:t>Customize TTL settings for critical systems </a:t>
            </a:r>
          </a:p>
          <a:p>
            <a:r>
              <a:rPr lang="en-US" sz="3400" dirty="0"/>
              <a:t>Review and audit web server logs and settings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to handle Web Application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261152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400" dirty="0"/>
              <a:t>Captures, filters, and analyzes all the incoming traffic to detect, block, and thwart various application layer attacks. </a:t>
            </a:r>
          </a:p>
          <a:p>
            <a:r>
              <a:rPr lang="en-US" sz="3400" dirty="0"/>
              <a:t>Filters the content based on a certain set of rules or instructions and blocks application layer attack attempts that match the rules.</a:t>
            </a:r>
          </a:p>
          <a:p>
            <a:r>
              <a:rPr lang="en-US" sz="3400" dirty="0"/>
              <a:t>Includes built-in behavioral and reputational analysis that can also assist in protecting the applications against zero-day threats.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Deploying a WAF?</a:t>
            </a:r>
          </a:p>
        </p:txBody>
      </p:sp>
    </p:spTree>
    <p:extLst>
      <p:ext uri="{BB962C8B-B14F-4D97-AF65-F5344CB8AC3E}">
        <p14:creationId xmlns:p14="http://schemas.microsoft.com/office/powerpoint/2010/main" val="303022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Logs, analyzes, and alerts on security incidents. </a:t>
            </a:r>
          </a:p>
          <a:p>
            <a:r>
              <a:rPr lang="en-US" sz="3400" dirty="0"/>
              <a:t>Offers security management services combining Security Information Management (SIM) and Security Event Management (SEM). </a:t>
            </a:r>
          </a:p>
          <a:p>
            <a:pPr lvl="1"/>
            <a:r>
              <a:rPr lang="en-US" sz="3200" dirty="0"/>
              <a:t> </a:t>
            </a:r>
            <a:r>
              <a:rPr lang="en-US" sz="3200" b="1" dirty="0"/>
              <a:t>SIM</a:t>
            </a:r>
            <a:r>
              <a:rPr lang="en-US" sz="3200" dirty="0"/>
              <a:t> supports permanent storage, analysis, and reporting of log data. </a:t>
            </a:r>
          </a:p>
          <a:p>
            <a:pPr lvl="1"/>
            <a:r>
              <a:rPr lang="en-US" sz="3200" dirty="0"/>
              <a:t> </a:t>
            </a:r>
            <a:r>
              <a:rPr lang="en-US" sz="3200" b="1" dirty="0"/>
              <a:t>SEM</a:t>
            </a:r>
            <a:r>
              <a:rPr lang="en-US" sz="3200" dirty="0"/>
              <a:t> deals with real-time monitoring, correlation of events, notifications, and console views.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Deploying a SIEM?</a:t>
            </a:r>
          </a:p>
        </p:txBody>
      </p:sp>
    </p:spTree>
    <p:extLst>
      <p:ext uri="{BB962C8B-B14F-4D97-AF65-F5344CB8AC3E}">
        <p14:creationId xmlns:p14="http://schemas.microsoft.com/office/powerpoint/2010/main" val="38869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796E1E12-91A2-484A-953E-D096DC7A0AB9}"/>
</file>

<file path=customXml/itemProps2.xml><?xml version="1.0" encoding="utf-8"?>
<ds:datastoreItem xmlns:ds="http://schemas.openxmlformats.org/officeDocument/2006/customXml" ds:itemID="{A51858DC-FBE4-4377-94BE-C58618D9BFB9}"/>
</file>

<file path=customXml/itemProps3.xml><?xml version="1.0" encoding="utf-8"?>
<ds:datastoreItem xmlns:ds="http://schemas.openxmlformats.org/officeDocument/2006/customXml" ds:itemID="{04EC1A63-C28E-4E9C-A89F-2B98DFBB5BA1}"/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315</Words>
  <Application>Microsoft Office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Web Application Architecture?</vt:lpstr>
      <vt:lpstr>What are the causes of web incidents?</vt:lpstr>
      <vt:lpstr>What are the steps to handle Web Application Security Incidents?</vt:lpstr>
      <vt:lpstr>What are the steps to handle Web Application Security Incidents?</vt:lpstr>
      <vt:lpstr>What about Deploying a WAF?</vt:lpstr>
      <vt:lpstr>What about Deploying a SIEM?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122</cp:revision>
  <cp:lastPrinted>2020-04-29T19:12:33Z</cp:lastPrinted>
  <dcterms:created xsi:type="dcterms:W3CDTF">2020-04-24T18:08:50Z</dcterms:created>
  <dcterms:modified xsi:type="dcterms:W3CDTF">2020-09-24T12:01:41Z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