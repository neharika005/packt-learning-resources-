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81" r:id="rId2"/>
    <p:sldId id="2889" r:id="rId3"/>
    <p:sldId id="2890" r:id="rId4"/>
    <p:sldId id="2895" r:id="rId5"/>
    <p:sldId id="2891" r:id="rId6"/>
    <p:sldId id="2892" r:id="rId7"/>
    <p:sldId id="2896" r:id="rId8"/>
    <p:sldId id="2894" r:id="rId9"/>
    <p:sldId id="2897" r:id="rId10"/>
    <p:sldId id="2898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087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377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87368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55817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2896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21830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3413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39477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206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r>
              <a:rPr lang="en-US" sz="3400" dirty="0"/>
              <a:t>“Any information of probative value that is either stored or transmitted in a digital form”</a:t>
            </a:r>
          </a:p>
          <a:p>
            <a:endParaRPr lang="en-US" sz="3400" dirty="0"/>
          </a:p>
          <a:p>
            <a:r>
              <a:rPr lang="en-US" sz="3400" dirty="0"/>
              <a:t>May be present across computing devices, servers, routers, and so on. </a:t>
            </a:r>
          </a:p>
          <a:p>
            <a:endParaRPr lang="en-US" sz="3400" dirty="0"/>
          </a:p>
          <a:p>
            <a:r>
              <a:rPr lang="en-US" sz="3400" dirty="0"/>
              <a:t>It is revealed during the forensics investigation while examining storage media, monitoring network traffic, or making duplicate copies of digital 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Digital Evidence?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Volatile</a:t>
            </a:r>
            <a:r>
              <a:rPr lang="en-US" sz="3400" dirty="0"/>
              <a:t> - the temporary information on a device that requires a constant power supply and is deleted if the power supply is interrupted.</a:t>
            </a:r>
          </a:p>
          <a:p>
            <a:endParaRPr lang="en-US" sz="3400" dirty="0"/>
          </a:p>
          <a:p>
            <a:r>
              <a:rPr lang="en-US" sz="3400" b="1" dirty="0"/>
              <a:t>Non-Volatile</a:t>
            </a:r>
            <a:r>
              <a:rPr lang="en-US" sz="3400" dirty="0"/>
              <a:t> - the permanent data stored on secondary storage devices, such as hard disks and memory cards; </a:t>
            </a:r>
            <a:r>
              <a:rPr lang="en-US" sz="3200" dirty="0"/>
              <a:t>does not depend on power supply and remains intact even when the device is switched off.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types of Digital Evidence?</a:t>
            </a:r>
          </a:p>
        </p:txBody>
      </p:sp>
    </p:spTree>
    <p:extLst>
      <p:ext uri="{BB962C8B-B14F-4D97-AF65-F5344CB8AC3E}">
        <p14:creationId xmlns:p14="http://schemas.microsoft.com/office/powerpoint/2010/main" val="32706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The main characteristic of digital evidence is its relevance and weight (influence). </a:t>
            </a:r>
          </a:p>
          <a:p>
            <a:endParaRPr lang="en-US" sz="3400" dirty="0"/>
          </a:p>
          <a:p>
            <a:r>
              <a:rPr lang="en-US" sz="3400" b="1" dirty="0"/>
              <a:t>Relevance</a:t>
            </a:r>
            <a:r>
              <a:rPr lang="en-US" sz="3400" dirty="0"/>
              <a:t> - the connection between digital evidence and the fact(s) that is/are to be proved. </a:t>
            </a:r>
          </a:p>
          <a:p>
            <a:endParaRPr lang="en-US" sz="3400" dirty="0"/>
          </a:p>
          <a:p>
            <a:r>
              <a:rPr lang="en-US" sz="3400" b="1" dirty="0"/>
              <a:t>Weight</a:t>
            </a:r>
            <a:r>
              <a:rPr lang="en-US" sz="3400" dirty="0"/>
              <a:t> - how much the digital evidence changes the probability of the fact.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characteristics of Digital Evidence?</a:t>
            </a:r>
          </a:p>
        </p:txBody>
      </p:sp>
    </p:spTree>
    <p:extLst>
      <p:ext uri="{BB962C8B-B14F-4D97-AF65-F5344CB8AC3E}">
        <p14:creationId xmlns:p14="http://schemas.microsoft.com/office/powerpoint/2010/main" val="25679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u="sng" dirty="0"/>
              <a:t>ALL EVIDENCE MUST BE: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b="1" dirty="0"/>
              <a:t>Admissible</a:t>
            </a:r>
            <a:r>
              <a:rPr lang="en-US" sz="3400" dirty="0"/>
              <a:t> - related to the fact being proved</a:t>
            </a:r>
          </a:p>
          <a:p>
            <a:r>
              <a:rPr lang="en-US" sz="3400" b="1" dirty="0"/>
              <a:t>Authentic</a:t>
            </a:r>
            <a:r>
              <a:rPr lang="en-US" sz="3400" dirty="0"/>
              <a:t> - real and related to the incident in a proper way</a:t>
            </a:r>
          </a:p>
          <a:p>
            <a:r>
              <a:rPr lang="en-US" sz="3400" b="1" dirty="0"/>
              <a:t>Complete</a:t>
            </a:r>
            <a:r>
              <a:rPr lang="en-US" sz="3400" dirty="0"/>
              <a:t> - prove guilt or innocence</a:t>
            </a:r>
          </a:p>
          <a:p>
            <a:r>
              <a:rPr lang="en-US" sz="3400" b="1" dirty="0"/>
              <a:t>Reliable</a:t>
            </a:r>
            <a:r>
              <a:rPr lang="en-US" sz="3400" dirty="0"/>
              <a:t> - no doubt about the authenticity or veracity of the evidence</a:t>
            </a:r>
          </a:p>
          <a:p>
            <a:r>
              <a:rPr lang="en-US" sz="3400" b="1" dirty="0"/>
              <a:t>Believable</a:t>
            </a:r>
            <a:r>
              <a:rPr lang="en-US" sz="3400" dirty="0"/>
              <a:t> - clear and understandable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characteristics of Digital Evidence?</a:t>
            </a:r>
          </a:p>
        </p:txBody>
      </p:sp>
    </p:spTree>
    <p:extLst>
      <p:ext uri="{BB962C8B-B14F-4D97-AF65-F5344CB8AC3E}">
        <p14:creationId xmlns:p14="http://schemas.microsoft.com/office/powerpoint/2010/main" val="306728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ACPO Principles of Digital Evidence – (4)</a:t>
            </a:r>
          </a:p>
          <a:p>
            <a:pPr lvl="1"/>
            <a:r>
              <a:rPr lang="en-US" sz="3200" dirty="0"/>
              <a:t> No action taken should change data</a:t>
            </a:r>
          </a:p>
          <a:p>
            <a:pPr lvl="1"/>
            <a:r>
              <a:rPr lang="en-US" sz="3200" dirty="0"/>
              <a:t> ONLY competent people access original data</a:t>
            </a:r>
          </a:p>
          <a:p>
            <a:pPr lvl="1"/>
            <a:r>
              <a:rPr lang="en-US" sz="3200" dirty="0"/>
              <a:t> CHAIN OF CUSTODY AT ALL TIMES !!!</a:t>
            </a:r>
          </a:p>
          <a:p>
            <a:pPr lvl="1"/>
            <a:r>
              <a:rPr lang="en-US" sz="3200" dirty="0"/>
              <a:t> Person in charge is accountable</a:t>
            </a:r>
          </a:p>
          <a:p>
            <a:r>
              <a:rPr lang="en-US" sz="3400" dirty="0"/>
              <a:t>Scientific Working Group on Digital Evidence (SWGDE) Principles, Standards &amp; Criteria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Forensics principles incident handlers need to be aware of ?</a:t>
            </a:r>
          </a:p>
        </p:txBody>
      </p:sp>
    </p:spTree>
    <p:extLst>
      <p:ext uri="{BB962C8B-B14F-4D97-AF65-F5344CB8AC3E}">
        <p14:creationId xmlns:p14="http://schemas.microsoft.com/office/powerpoint/2010/main" val="259694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Physical evidence includes: </a:t>
            </a:r>
          </a:p>
          <a:p>
            <a:endParaRPr lang="en-US" sz="3400" dirty="0"/>
          </a:p>
          <a:p>
            <a:r>
              <a:rPr lang="en-US" sz="3400" dirty="0"/>
              <a:t>Removable media </a:t>
            </a:r>
          </a:p>
          <a:p>
            <a:r>
              <a:rPr lang="en-US" sz="3400" dirty="0"/>
              <a:t>Cables </a:t>
            </a:r>
          </a:p>
          <a:p>
            <a:r>
              <a:rPr lang="en-US" sz="3400" dirty="0"/>
              <a:t>Publications </a:t>
            </a:r>
          </a:p>
          <a:p>
            <a:r>
              <a:rPr lang="en-US" sz="3400" dirty="0"/>
              <a:t>All computer equipment, including peripherals </a:t>
            </a:r>
          </a:p>
          <a:p>
            <a:r>
              <a:rPr lang="en-US" sz="3400" dirty="0"/>
              <a:t>Items taken from the trash </a:t>
            </a:r>
          </a:p>
          <a:p>
            <a:r>
              <a:rPr lang="en-US" sz="3400" dirty="0"/>
              <a:t>Miscellaneous items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does the Incident Responder have to know about collecting Physical Evidence?</a:t>
            </a:r>
          </a:p>
        </p:txBody>
      </p:sp>
    </p:spTree>
    <p:extLst>
      <p:ext uri="{BB962C8B-B14F-4D97-AF65-F5344CB8AC3E}">
        <p14:creationId xmlns:p14="http://schemas.microsoft.com/office/powerpoint/2010/main" val="107274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Tag all the objects identified as evidence, and mention all the required details on the tag, such as the time, date, incident responder’s name, and control number.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Collecting evidence from: </a:t>
            </a:r>
          </a:p>
          <a:p>
            <a:r>
              <a:rPr lang="en-US" sz="3400" dirty="0"/>
              <a:t>Powered On / Powered Off computers</a:t>
            </a:r>
          </a:p>
          <a:p>
            <a:r>
              <a:rPr lang="en-US" sz="3400" dirty="0"/>
              <a:t>Network connected computers</a:t>
            </a:r>
          </a:p>
          <a:p>
            <a:r>
              <a:rPr lang="en-US" sz="3400" dirty="0"/>
              <a:t>Open files and startup files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does the Incident Responder have to know about collecting Physical Evidence?</a:t>
            </a:r>
          </a:p>
        </p:txBody>
      </p:sp>
    </p:spTree>
    <p:extLst>
      <p:ext uri="{BB962C8B-B14F-4D97-AF65-F5344CB8AC3E}">
        <p14:creationId xmlns:p14="http://schemas.microsoft.com/office/powerpoint/2010/main" val="221115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r>
              <a:rPr lang="en-US" sz="3400" dirty="0"/>
              <a:t>Demonstrates the progression of evidence as it travels from the original evidence location to the forensic laboratory.</a:t>
            </a:r>
          </a:p>
          <a:p>
            <a:endParaRPr lang="en-US" sz="3400" dirty="0"/>
          </a:p>
          <a:p>
            <a:r>
              <a:rPr lang="en-US" sz="3400" dirty="0"/>
              <a:t>Covers the collection, handling, storage, testing, and disposition of evidence.</a:t>
            </a:r>
          </a:p>
          <a:p>
            <a:endParaRPr lang="en-US" sz="3400" dirty="0"/>
          </a:p>
          <a:p>
            <a:r>
              <a:rPr lang="en-US" sz="3400" dirty="0"/>
              <a:t>Documentation should list all the people involved in the collection and preservation of evidence and their actions.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Chain of Custody?</a:t>
            </a:r>
          </a:p>
        </p:txBody>
      </p:sp>
    </p:spTree>
    <p:extLst>
      <p:ext uri="{BB962C8B-B14F-4D97-AF65-F5344CB8AC3E}">
        <p14:creationId xmlns:p14="http://schemas.microsoft.com/office/powerpoint/2010/main" val="349257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dirty="0"/>
              <a:t>The panel on the front of evidence bags must, at the very least, contain the following details: </a:t>
            </a:r>
          </a:p>
          <a:p>
            <a:endParaRPr lang="en-US" sz="3400" dirty="0"/>
          </a:p>
          <a:p>
            <a:r>
              <a:rPr lang="en-US" sz="3400" dirty="0"/>
              <a:t>Date and time of seizure </a:t>
            </a:r>
          </a:p>
          <a:p>
            <a:r>
              <a:rPr lang="en-US" sz="3400" dirty="0"/>
              <a:t>Incident responder who seized the evidence </a:t>
            </a:r>
          </a:p>
          <a:p>
            <a:r>
              <a:rPr lang="en-US" sz="3400" dirty="0"/>
              <a:t>Exhibit number </a:t>
            </a:r>
          </a:p>
          <a:p>
            <a:r>
              <a:rPr lang="en-US" sz="3400" dirty="0"/>
              <a:t>Where the evidence was seized from </a:t>
            </a:r>
          </a:p>
          <a:p>
            <a:r>
              <a:rPr lang="en-US" sz="3400" dirty="0"/>
              <a:t>Details of the contents of the evidence bag </a:t>
            </a:r>
          </a:p>
          <a:p>
            <a:r>
              <a:rPr lang="en-US" sz="3400" dirty="0"/>
              <a:t>Submitting agency and its address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the Evidence Bag Contents List?</a:t>
            </a:r>
          </a:p>
        </p:txBody>
      </p:sp>
    </p:spTree>
    <p:extLst>
      <p:ext uri="{BB962C8B-B14F-4D97-AF65-F5344CB8AC3E}">
        <p14:creationId xmlns:p14="http://schemas.microsoft.com/office/powerpoint/2010/main" val="13284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400" dirty="0"/>
              <a:t>Label all the devices and their components and create a list </a:t>
            </a:r>
          </a:p>
          <a:p>
            <a:r>
              <a:rPr lang="en-US" sz="3400" dirty="0"/>
              <a:t>Avoid turning computers upside down or putting them </a:t>
            </a:r>
            <a:r>
              <a:rPr lang="en-US" sz="3400"/>
              <a:t>on their </a:t>
            </a:r>
            <a:r>
              <a:rPr lang="en-US" sz="3400" dirty="0"/>
              <a:t>side during transport</a:t>
            </a:r>
          </a:p>
          <a:p>
            <a:r>
              <a:rPr lang="en-US" sz="3400" dirty="0"/>
              <a:t>Keep electronic evidence away from magnetic sources such as radio transmitters, speaker magnets, and heated seats </a:t>
            </a:r>
          </a:p>
          <a:p>
            <a:r>
              <a:rPr lang="en-US" sz="3400" dirty="0"/>
              <a:t>Store the evidence away from extreme heat, cold, or moisture </a:t>
            </a:r>
          </a:p>
          <a:p>
            <a:r>
              <a:rPr lang="en-US" sz="3400" dirty="0"/>
              <a:t>Avoid storing electronic evidence in vehicles for a long period of time </a:t>
            </a:r>
          </a:p>
          <a:p>
            <a:r>
              <a:rPr lang="en-US" sz="3400" dirty="0"/>
              <a:t>Maintain proper chain of custody of the transported evidence </a:t>
            </a:r>
          </a:p>
          <a:p>
            <a:r>
              <a:rPr lang="en-US" sz="3400" dirty="0"/>
              <a:t>Ensure that wireless devices do not connect to any networks by storing them in signal blocking containers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Packaging, Transporting, and Storing Electronic Evidence?</a:t>
            </a:r>
          </a:p>
        </p:txBody>
      </p:sp>
    </p:spTree>
    <p:extLst>
      <p:ext uri="{BB962C8B-B14F-4D97-AF65-F5344CB8AC3E}">
        <p14:creationId xmlns:p14="http://schemas.microsoft.com/office/powerpoint/2010/main" val="262147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D33A2138-5EE0-41A5-89CD-3C5CC275E47E}"/>
</file>

<file path=customXml/itemProps2.xml><?xml version="1.0" encoding="utf-8"?>
<ds:datastoreItem xmlns:ds="http://schemas.openxmlformats.org/officeDocument/2006/customXml" ds:itemID="{82D2FF44-8C60-40A4-85D2-1F47CC0377B2}"/>
</file>

<file path=customXml/itemProps3.xml><?xml version="1.0" encoding="utf-8"?>
<ds:datastoreItem xmlns:ds="http://schemas.openxmlformats.org/officeDocument/2006/customXml" ds:itemID="{0DE8FC55-DAFC-4405-8B0F-C2C35F987EC2}"/>
</file>

<file path=docProps/app.xml><?xml version="1.0" encoding="utf-8"?>
<Properties xmlns="http://schemas.openxmlformats.org/officeDocument/2006/extended-properties" xmlns:vt="http://schemas.openxmlformats.org/officeDocument/2006/docPropsVTypes">
  <TotalTime>2480</TotalTime>
  <Words>634</Words>
  <Application>Microsoft Office PowerPoint</Application>
  <PresentationFormat>Widescreen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Digital Evidence?</vt:lpstr>
      <vt:lpstr>What are the types of Digital Evidence?</vt:lpstr>
      <vt:lpstr>What are the characteristics of Digital Evidence?</vt:lpstr>
      <vt:lpstr>What are the characteristics of Digital Evidence?</vt:lpstr>
      <vt:lpstr>What are the Forensics principles incident handlers need to be aware of ?</vt:lpstr>
      <vt:lpstr>What does the Incident Responder have to know about collecting Physical Evidence?</vt:lpstr>
      <vt:lpstr>What does the Incident Responder have to know about collecting Physical Evidence?</vt:lpstr>
      <vt:lpstr>What is Chain of Custody?</vt:lpstr>
      <vt:lpstr>What about the Evidence Bag Contents List?</vt:lpstr>
      <vt:lpstr>What about Packaging, Transporting, and Storing Electronic Evidence?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108</cp:revision>
  <cp:lastPrinted>2020-04-29T19:12:33Z</cp:lastPrinted>
  <dcterms:created xsi:type="dcterms:W3CDTF">2020-04-24T18:08:50Z</dcterms:created>
  <dcterms:modified xsi:type="dcterms:W3CDTF">2020-09-14T16:11:58Z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