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880" r:id="rId2"/>
    <p:sldId id="2900" r:id="rId3"/>
    <p:sldId id="2881" r:id="rId4"/>
    <p:sldId id="2901" r:id="rId5"/>
    <p:sldId id="2902" r:id="rId6"/>
    <p:sldId id="2903" r:id="rId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72632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49497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02077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50952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42770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Incident Analysis and Validation?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sz="3100" dirty="0"/>
          </a:p>
          <a:p>
            <a:pPr marL="0" indent="0">
              <a:buNone/>
            </a:pPr>
            <a:r>
              <a:rPr lang="en-US" sz="3100" dirty="0"/>
              <a:t>Incident responders need to analyze the indicators of a reported issue to verify if it is an information security incident or an error in the hardware or software components 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The IH&amp;R team must find the different sources of indicators, examine the security solutions, verify the system, device logs, and identify the incident and its vectors 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Analysis and validation will help in determining the affected resources and data, systems, networks, servers, services; impact on the business; and different types of losses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steps involved in Incident Analysis and Validation?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sz="3100" dirty="0"/>
          </a:p>
          <a:p>
            <a:r>
              <a:rPr lang="en-US" sz="3100" b="1" dirty="0"/>
              <a:t>Log Analysis</a:t>
            </a:r>
            <a:r>
              <a:rPr lang="en-US" sz="3100" dirty="0"/>
              <a:t>: Information related to incident might be available in several places such as IDPS, firewall, application, and router logs. </a:t>
            </a:r>
          </a:p>
          <a:p>
            <a:endParaRPr lang="en-US" sz="3100" dirty="0"/>
          </a:p>
          <a:p>
            <a:r>
              <a:rPr lang="en-US" sz="3100" b="1" dirty="0"/>
              <a:t>Event Correlation</a:t>
            </a:r>
            <a:r>
              <a:rPr lang="en-US" sz="3100" dirty="0"/>
              <a:t>: Used to assign/find meaning(s) for relating a set of events that occur over a fixed amount of time. </a:t>
            </a:r>
          </a:p>
          <a:p>
            <a:endParaRPr lang="en-US" sz="3100" dirty="0"/>
          </a:p>
          <a:p>
            <a:r>
              <a:rPr lang="en-US" sz="3100" b="1" dirty="0"/>
              <a:t>Network and System Profiling</a:t>
            </a:r>
            <a:r>
              <a:rPr lang="en-US" sz="3100" dirty="0"/>
              <a:t>: Identifying changes made to the various characteristics of expected activity by establishing a baseline and measuring against it.</a:t>
            </a:r>
          </a:p>
        </p:txBody>
      </p:sp>
    </p:spTree>
    <p:extLst>
      <p:ext uri="{BB962C8B-B14F-4D97-AF65-F5344CB8AC3E}">
        <p14:creationId xmlns:p14="http://schemas.microsoft.com/office/powerpoint/2010/main" val="644814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Incident Classification?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C543EF-9BC4-4DE4-A103-97B1AA903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100" dirty="0"/>
              <a:t>Once the incident is detected, it needs to be categorized appropriately for Type, Severity and Impact so that necessary response actions can be taken. </a:t>
            </a:r>
          </a:p>
          <a:p>
            <a:endParaRPr lang="en-US" sz="3100" dirty="0"/>
          </a:p>
          <a:p>
            <a:pPr marL="0" indent="0">
              <a:buNone/>
            </a:pPr>
            <a:r>
              <a:rPr lang="en-US" sz="3100" dirty="0"/>
              <a:t>Incident Classification has two major parts to it – </a:t>
            </a:r>
          </a:p>
          <a:p>
            <a:endParaRPr lang="en-US" sz="3100" dirty="0"/>
          </a:p>
          <a:p>
            <a:r>
              <a:rPr lang="en-US" sz="3100" dirty="0"/>
              <a:t>Categorization assists in putting the events into a common bucket for better coordinated and consistent handling. </a:t>
            </a:r>
          </a:p>
          <a:p>
            <a:endParaRPr lang="en-US" sz="3100" dirty="0"/>
          </a:p>
          <a:p>
            <a:r>
              <a:rPr lang="en-US" sz="3100" dirty="0"/>
              <a:t>Severity ratings assist in assigning a “sense of urgency” to the Incident detected.</a:t>
            </a:r>
          </a:p>
        </p:txBody>
      </p:sp>
    </p:spTree>
    <p:extLst>
      <p:ext uri="{BB962C8B-B14F-4D97-AF65-F5344CB8AC3E}">
        <p14:creationId xmlns:p14="http://schemas.microsoft.com/office/powerpoint/2010/main" val="397345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Incident Prioritization?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C543EF-9BC4-4DE4-A103-97B1AA903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100" dirty="0"/>
              <a:t>Prioritization depends on the severity of impact, importance of the compromised resources, operations disrupted, and losses incurred due to the incident. </a:t>
            </a:r>
          </a:p>
          <a:p>
            <a:endParaRPr lang="en-US" sz="3100" dirty="0"/>
          </a:p>
          <a:p>
            <a:pPr marL="0" indent="0">
              <a:buNone/>
            </a:pPr>
            <a:r>
              <a:rPr lang="en-US" sz="3100" dirty="0"/>
              <a:t>It is the responsibility of the incident handler to prioritize the compromised elements and sort them according to the most important devices or applications required for business continuity.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b="1" dirty="0"/>
              <a:t>NOTE: Prioritization will also help incident handlers to manage the available incident response staff and resources.</a:t>
            </a:r>
          </a:p>
        </p:txBody>
      </p:sp>
    </p:spTree>
    <p:extLst>
      <p:ext uri="{BB962C8B-B14F-4D97-AF65-F5344CB8AC3E}">
        <p14:creationId xmlns:p14="http://schemas.microsoft.com/office/powerpoint/2010/main" val="141748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main Incident Priorities used?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C543EF-9BC4-4DE4-A103-97B1AA903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100" b="1" dirty="0"/>
          </a:p>
          <a:p>
            <a:r>
              <a:rPr lang="en-US" sz="3100" b="1" dirty="0"/>
              <a:t>Low-level Incidents</a:t>
            </a:r>
            <a:r>
              <a:rPr lang="en-US" sz="3100" dirty="0"/>
              <a:t> - the least harmful incidents that pose minimal threat to the organization. </a:t>
            </a:r>
          </a:p>
          <a:p>
            <a:endParaRPr lang="en-US" sz="3100" dirty="0"/>
          </a:p>
          <a:p>
            <a:r>
              <a:rPr lang="en-US" sz="3100" b="1" dirty="0"/>
              <a:t>Middle-level Incidents</a:t>
            </a:r>
            <a:r>
              <a:rPr lang="en-US" sz="3100" dirty="0"/>
              <a:t> - pose moderate threat to the organization.</a:t>
            </a:r>
          </a:p>
          <a:p>
            <a:endParaRPr lang="en-US" sz="3100" dirty="0"/>
          </a:p>
          <a:p>
            <a:r>
              <a:rPr lang="en-US" sz="3100" b="1" dirty="0"/>
              <a:t>High-level Incidents</a:t>
            </a:r>
            <a:r>
              <a:rPr lang="en-US" sz="3100" dirty="0"/>
              <a:t> - the most severe kind of incidents that can threaten the business operations of the organization.</a:t>
            </a:r>
          </a:p>
        </p:txBody>
      </p:sp>
    </p:spTree>
    <p:extLst>
      <p:ext uri="{BB962C8B-B14F-4D97-AF65-F5344CB8AC3E}">
        <p14:creationId xmlns:p14="http://schemas.microsoft.com/office/powerpoint/2010/main" val="827400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best practices that I should be aware of?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C543EF-9BC4-4DE4-A103-97B1AA903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100" dirty="0"/>
          </a:p>
          <a:p>
            <a:r>
              <a:rPr lang="en-US" sz="3100" dirty="0"/>
              <a:t>Focus on high-priority security concerns first </a:t>
            </a:r>
          </a:p>
          <a:p>
            <a:r>
              <a:rPr lang="en-US" sz="3100" dirty="0"/>
              <a:t>Prioritize recommendations for mitigating risks to applications </a:t>
            </a:r>
          </a:p>
          <a:p>
            <a:r>
              <a:rPr lang="en-US" sz="3100" dirty="0"/>
              <a:t>Develop strategies to achieve short-term and long-term security postures </a:t>
            </a:r>
          </a:p>
          <a:p>
            <a:r>
              <a:rPr lang="en-US" sz="3100" dirty="0"/>
              <a:t>Decide on the required and available resources to maintain a consistent level of information security</a:t>
            </a:r>
          </a:p>
          <a:p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3677266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F91779E5-DA23-421C-873E-0FE7695DB498}"/>
</file>

<file path=customXml/itemProps2.xml><?xml version="1.0" encoding="utf-8"?>
<ds:datastoreItem xmlns:ds="http://schemas.openxmlformats.org/officeDocument/2006/customXml" ds:itemID="{999E30E2-3F0D-400D-8281-370EFC7BFB74}"/>
</file>

<file path=customXml/itemProps3.xml><?xml version="1.0" encoding="utf-8"?>
<ds:datastoreItem xmlns:ds="http://schemas.openxmlformats.org/officeDocument/2006/customXml" ds:itemID="{D2618D82-B8BE-4074-A71B-07DC0A4BE246}"/>
</file>

<file path=docProps/app.xml><?xml version="1.0" encoding="utf-8"?>
<Properties xmlns="http://schemas.openxmlformats.org/officeDocument/2006/extended-properties" xmlns:vt="http://schemas.openxmlformats.org/officeDocument/2006/docPropsVTypes">
  <TotalTime>2540</TotalTime>
  <Words>444</Words>
  <Application>Microsoft Office PowerPoint</Application>
  <PresentationFormat>Widescreen</PresentationFormat>
  <Paragraphs>47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is Incident Analysis and Validation?</vt:lpstr>
      <vt:lpstr>What are the steps involved in Incident Analysis and Validation?</vt:lpstr>
      <vt:lpstr>What is Incident Classification?</vt:lpstr>
      <vt:lpstr>What is Incident Prioritization?</vt:lpstr>
      <vt:lpstr>What are the main Incident Priorities used?</vt:lpstr>
      <vt:lpstr>What are the best practices that I should be aware of?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134</cp:revision>
  <cp:lastPrinted>2020-04-29T19:12:33Z</cp:lastPrinted>
  <dcterms:created xsi:type="dcterms:W3CDTF">2020-04-24T18:08:50Z</dcterms:created>
  <dcterms:modified xsi:type="dcterms:W3CDTF">2020-09-09T17:23:05Z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