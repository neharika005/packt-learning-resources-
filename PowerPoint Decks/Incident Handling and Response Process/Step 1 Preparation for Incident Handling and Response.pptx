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80" r:id="rId2"/>
    <p:sldId id="2881" r:id="rId3"/>
    <p:sldId id="2898" r:id="rId4"/>
    <p:sldId id="2899" r:id="rId5"/>
    <p:sldId id="2900" r:id="rId6"/>
    <p:sldId id="2901" r:id="rId7"/>
    <p:sldId id="2902" r:id="rId8"/>
    <p:sldId id="2903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33388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11460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25627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39740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4653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38665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Incident Handling </a:t>
            </a:r>
            <a:r>
              <a:rPr lang="en-US"/>
              <a:t>and Response </a:t>
            </a:r>
            <a:r>
              <a:rPr lang="en-US" dirty="0"/>
              <a:t>(IH&amp;R)?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3100" dirty="0"/>
          </a:p>
          <a:p>
            <a:r>
              <a:rPr lang="en-US" sz="3100" dirty="0"/>
              <a:t>Finding out when the incident occurred, its impact, and cause.</a:t>
            </a:r>
          </a:p>
          <a:p>
            <a:endParaRPr lang="en-US" sz="3100" dirty="0"/>
          </a:p>
          <a:p>
            <a:r>
              <a:rPr lang="en-US" sz="3100" dirty="0"/>
              <a:t>Initiated by organization’s IH&amp;R team, executive manager, head of the information security department, or any other person designated by management.</a:t>
            </a:r>
          </a:p>
          <a:p>
            <a:endParaRPr lang="en-US" sz="3100" dirty="0"/>
          </a:p>
          <a:p>
            <a:r>
              <a:rPr lang="en-US" sz="3100" dirty="0"/>
              <a:t>A focused and structured approach for restoring normal business operations as quickly as possible after an incident, with minimal impact to the business.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Step 1: Preparation for Incident Handling and Response 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3100" dirty="0"/>
          </a:p>
          <a:p>
            <a:r>
              <a:rPr lang="en-US" sz="3100" dirty="0"/>
              <a:t>Determine the need for an IH&amp;R process based on the current security scenario, risk perception, business advantages of having such processes, legal compliance requirements, organizational policies, and previous incidents. </a:t>
            </a:r>
          </a:p>
          <a:p>
            <a:endParaRPr lang="en-US" sz="3100" dirty="0"/>
          </a:p>
          <a:p>
            <a:r>
              <a:rPr lang="en-US" sz="3100" dirty="0"/>
              <a:t>Factors impacting the IH&amp;R process plan include the type of assets, services offered, storage devices, servers, and networking devices.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Step 1: Preparation for Incident Handling and Response 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r>
              <a:rPr lang="en-US" sz="3100" dirty="0"/>
              <a:t>Vision and Mission statements - define the purpose and scope of the planned IH&amp;R capabilities</a:t>
            </a:r>
          </a:p>
          <a:p>
            <a:r>
              <a:rPr lang="en-US" sz="3100" dirty="0"/>
              <a:t>Management Approvals and Funding</a:t>
            </a:r>
          </a:p>
          <a:p>
            <a:r>
              <a:rPr lang="en-US" sz="3100" dirty="0"/>
              <a:t>IH&amp;R Plan / Policy</a:t>
            </a:r>
          </a:p>
          <a:p>
            <a:r>
              <a:rPr lang="en-US" sz="3100" dirty="0"/>
              <a:t>IH&amp;R Procedures - implementation of the complete lifecycle of IH&amp;R processes</a:t>
            </a:r>
          </a:p>
          <a:p>
            <a:r>
              <a:rPr lang="en-US" sz="3100" dirty="0"/>
              <a:t>IH&amp;R Criteria - help in decision-making during IH&amp;R procedures</a:t>
            </a:r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263785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Responsibilities of the IH&amp;R Team?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3100" dirty="0"/>
          </a:p>
          <a:p>
            <a:r>
              <a:rPr lang="en-US" sz="3100" dirty="0"/>
              <a:t>Provide a </a:t>
            </a:r>
            <a:r>
              <a:rPr lang="en-US" sz="3100" b="1" dirty="0"/>
              <a:t>single point of contact</a:t>
            </a:r>
            <a:r>
              <a:rPr lang="en-US" sz="3100" dirty="0"/>
              <a:t> for reporting security incidents and issues, as well as obtain proper permissions to perform the incident response processes</a:t>
            </a:r>
          </a:p>
          <a:p>
            <a:r>
              <a:rPr lang="en-US" sz="3100" dirty="0"/>
              <a:t>Be </a:t>
            </a:r>
            <a:r>
              <a:rPr lang="en-US" sz="3100" b="1" dirty="0"/>
              <a:t>aware of changes</a:t>
            </a:r>
            <a:r>
              <a:rPr lang="en-US" sz="3100" dirty="0"/>
              <a:t> in legal and regulatory requirements to ensure that all processes and procedures are valid and compliant </a:t>
            </a:r>
          </a:p>
          <a:p>
            <a:r>
              <a:rPr lang="en-US" sz="3100" dirty="0"/>
              <a:t>Regularly </a:t>
            </a:r>
            <a:r>
              <a:rPr lang="en-US" sz="3100" b="1" dirty="0"/>
              <a:t>review existing controls</a:t>
            </a:r>
            <a:r>
              <a:rPr lang="en-US" sz="3100" dirty="0"/>
              <a:t> to evaluate their strength and ability to detect and stop attacks</a:t>
            </a:r>
          </a:p>
          <a:p>
            <a:r>
              <a:rPr lang="en-US" sz="3100" b="1" dirty="0"/>
              <a:t>Recommend</a:t>
            </a:r>
            <a:r>
              <a:rPr lang="en-US" sz="3100" dirty="0"/>
              <a:t> steps, procedures, and technologies that can help the organization prevent future security incidents</a:t>
            </a:r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74986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Roles of the IH&amp;R Team?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100" dirty="0"/>
              <a:t>Information Security Officer (ISO)</a:t>
            </a:r>
          </a:p>
          <a:p>
            <a:r>
              <a:rPr lang="en-US" sz="3100" dirty="0"/>
              <a:t>Incident Manager (IM) </a:t>
            </a:r>
          </a:p>
          <a:p>
            <a:r>
              <a:rPr lang="en-US" sz="3100" dirty="0"/>
              <a:t>Security Analysts</a:t>
            </a:r>
          </a:p>
          <a:p>
            <a:r>
              <a:rPr lang="en-US" sz="3100" dirty="0"/>
              <a:t>Incident Coordinators</a:t>
            </a:r>
          </a:p>
          <a:p>
            <a:r>
              <a:rPr lang="en-US" sz="3100" dirty="0"/>
              <a:t>Forensic Investigators</a:t>
            </a:r>
          </a:p>
          <a:p>
            <a:r>
              <a:rPr lang="en-US" sz="3100" dirty="0"/>
              <a:t>Threat Researchers</a:t>
            </a:r>
          </a:p>
          <a:p>
            <a:r>
              <a:rPr lang="en-US" sz="3100" dirty="0"/>
              <a:t>System / Network Administrators</a:t>
            </a:r>
          </a:p>
          <a:p>
            <a:r>
              <a:rPr lang="en-US" sz="3100" dirty="0"/>
              <a:t>Internal / Financial Auditors</a:t>
            </a:r>
          </a:p>
          <a:p>
            <a:r>
              <a:rPr lang="en-US" sz="3100" dirty="0"/>
              <a:t>Human Resources / Public Relations</a:t>
            </a:r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12546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IH&amp;R Team Models?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r>
              <a:rPr lang="en-US" sz="3100" b="1" dirty="0"/>
              <a:t>Centralized Incident Response Team</a:t>
            </a:r>
            <a:r>
              <a:rPr lang="en-US" sz="3100" dirty="0"/>
              <a:t> - best suited for organizations operating from a single location</a:t>
            </a:r>
          </a:p>
          <a:p>
            <a:endParaRPr lang="en-US" sz="3100" dirty="0"/>
          </a:p>
          <a:p>
            <a:r>
              <a:rPr lang="en-US" sz="3100" b="1" dirty="0"/>
              <a:t>Distributed Incident Response Teams</a:t>
            </a:r>
            <a:r>
              <a:rPr lang="en-US" sz="3100" dirty="0"/>
              <a:t> - effective for large organizations with more geographic diversity </a:t>
            </a:r>
          </a:p>
          <a:p>
            <a:endParaRPr lang="en-US" sz="3100" dirty="0"/>
          </a:p>
          <a:p>
            <a:r>
              <a:rPr lang="en-US" sz="3100" b="1" dirty="0"/>
              <a:t>Coordination Teams</a:t>
            </a:r>
            <a:r>
              <a:rPr lang="en-US" sz="3100" dirty="0"/>
              <a:t> - play an advisory role, not directly responsible for incident response</a:t>
            </a:r>
          </a:p>
          <a:p>
            <a:pPr marL="0" indent="0">
              <a:buNone/>
            </a:pPr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58741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options for IH&amp;R Team Staffing?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Organizations can use one of the three incident response team staffing methods:</a:t>
            </a:r>
          </a:p>
          <a:p>
            <a:endParaRPr lang="en-US" sz="3100" dirty="0"/>
          </a:p>
          <a:p>
            <a:r>
              <a:rPr lang="en-US" sz="3100" dirty="0"/>
              <a:t>	Employees</a:t>
            </a:r>
          </a:p>
          <a:p>
            <a:r>
              <a:rPr lang="en-US" sz="3100" dirty="0"/>
              <a:t>	Partially Outsourced</a:t>
            </a:r>
          </a:p>
          <a:p>
            <a:r>
              <a:rPr lang="en-US" sz="3100" dirty="0"/>
              <a:t>	Fully Outsourced</a:t>
            </a:r>
          </a:p>
          <a:p>
            <a:pPr marL="0" indent="0">
              <a:buNone/>
            </a:pPr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93586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evaluate the current security posture?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It is imperative to audit current security posture of the organization before implementing the incident and response capabilities.</a:t>
            </a:r>
            <a:endParaRPr lang="en-US" sz="3100" dirty="0"/>
          </a:p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Steps involved in evaluating security include: </a:t>
            </a:r>
          </a:p>
          <a:p>
            <a:endParaRPr lang="en-US" sz="3100" dirty="0"/>
          </a:p>
          <a:p>
            <a:r>
              <a:rPr lang="en-US" sz="3100" dirty="0"/>
              <a:t>	Security auditing </a:t>
            </a:r>
          </a:p>
          <a:p>
            <a:r>
              <a:rPr lang="en-US" sz="3100" dirty="0"/>
              <a:t>	Vulnerability assessment </a:t>
            </a:r>
          </a:p>
          <a:p>
            <a:r>
              <a:rPr lang="en-US" sz="3100" dirty="0"/>
              <a:t>	Threat analysis </a:t>
            </a:r>
          </a:p>
          <a:p>
            <a:r>
              <a:rPr lang="en-US" sz="3100" dirty="0"/>
              <a:t>	Risk management </a:t>
            </a:r>
          </a:p>
          <a:p>
            <a:r>
              <a:rPr lang="en-US" sz="3100" dirty="0"/>
              <a:t>	Cyber trend analysis/threat intelligence</a:t>
            </a:r>
          </a:p>
          <a:p>
            <a:pPr marL="0" indent="0">
              <a:buNone/>
            </a:pPr>
            <a:endParaRPr lang="en-US" sz="3100" dirty="0"/>
          </a:p>
          <a:p>
            <a:endParaRPr lang="en-US" sz="3100" dirty="0"/>
          </a:p>
          <a:p>
            <a:endParaRPr lang="en-US" sz="3100" dirty="0"/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44561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9BF6B040-FF04-4CDE-944C-04364C1E96BC}"/>
</file>

<file path=customXml/itemProps2.xml><?xml version="1.0" encoding="utf-8"?>
<ds:datastoreItem xmlns:ds="http://schemas.openxmlformats.org/officeDocument/2006/customXml" ds:itemID="{8814B1A3-FAC9-416A-A17C-0E3BB4B66413}"/>
</file>

<file path=customXml/itemProps3.xml><?xml version="1.0" encoding="utf-8"?>
<ds:datastoreItem xmlns:ds="http://schemas.openxmlformats.org/officeDocument/2006/customXml" ds:itemID="{B26F34A5-BBCA-4677-B36C-B9075377A457}"/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491</Words>
  <Application>Microsoft Office PowerPoint</Application>
  <PresentationFormat>Widescreen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Incident Handling and Response (IH&amp;R)?</vt:lpstr>
      <vt:lpstr>What is Step 1: Preparation for Incident Handling and Response ?</vt:lpstr>
      <vt:lpstr>What is Step 1: Preparation for Incident Handling and Response ?</vt:lpstr>
      <vt:lpstr>What are the Responsibilities of the IH&amp;R Team?</vt:lpstr>
      <vt:lpstr>What are the Roles of the IH&amp;R Team?</vt:lpstr>
      <vt:lpstr>What are the IH&amp;R Team Models?</vt:lpstr>
      <vt:lpstr>What are the options for IH&amp;R Team Staffing?</vt:lpstr>
      <vt:lpstr>How do we evaluate the current security posture?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120</cp:revision>
  <cp:lastPrinted>2020-04-29T19:12:33Z</cp:lastPrinted>
  <dcterms:created xsi:type="dcterms:W3CDTF">2020-04-24T18:08:50Z</dcterms:created>
  <dcterms:modified xsi:type="dcterms:W3CDTF">2020-09-09T17:33:08Z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