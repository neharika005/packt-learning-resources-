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880" r:id="rId2"/>
    <p:sldId id="2882" r:id="rId3"/>
    <p:sldId id="2883" r:id="rId4"/>
    <p:sldId id="2889" r:id="rId5"/>
    <p:sldId id="2887" r:id="rId6"/>
    <p:sldId id="2888" r:id="rId7"/>
    <p:sldId id="2890" r:id="rId8"/>
    <p:sldId id="2891" r:id="rId9"/>
    <p:sldId id="2892" r:id="rId10"/>
    <p:sldId id="2893" r:id="rId1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550400D-634F-4ECE-8B99-E301607E417A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2CA5BA8-5709-4BCF-8567-BC7E03002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3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83248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2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950031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3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724799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4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357112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5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73427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6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3386731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7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081111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8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653299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9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8016144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10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69883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FCC102-5D77-AB4A-B015-62CEE166E515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6CB8CD-22B6-8E44-A0B2-E202A3F50FC0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1E13A89-D0B2-A346-9918-7B58BA5F80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537DE53-9F91-F144-B090-6891FC7F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782" y="1354512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AB1C3-283D-F547-BE60-C0223B09E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1782" y="3539550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50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550376-BED7-4B46-B83A-D8C4218AB513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B7B21E-0316-A247-8CEE-8DE76EAD7C95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FFA49D0-3C17-1747-A936-9501950BD5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004542C0-6F92-F542-B358-53649EAA8761}"/>
              </a:ext>
            </a:extLst>
          </p:cNvPr>
          <p:cNvSpPr txBox="1">
            <a:spLocks/>
          </p:cNvSpPr>
          <p:nvPr userDrawn="1"/>
        </p:nvSpPr>
        <p:spPr>
          <a:xfrm>
            <a:off x="624051" y="5195340"/>
            <a:ext cx="10943897" cy="1253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None/>
              <a:tabLst/>
              <a:defRPr sz="2800" b="1" i="0" kern="1200">
                <a:solidFill>
                  <a:schemeClr val="tx1"/>
                </a:solidFill>
                <a:latin typeface="Proxima Nova Semibold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20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8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0" i="0">
                <a:solidFill>
                  <a:schemeClr val="bg1"/>
                </a:solidFill>
                <a:latin typeface="Adelle Sans" panose="02000503000000020004" pitchFamily="2" charset="77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425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951679-C038-3D4F-B9C6-BD4097A52467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CF62-AF5A-6A4B-8DAF-6576CE0F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1175123" cy="46878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 marL="11430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 marL="16002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 marL="20574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B7FA2-906C-224F-91E8-737C56BA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CF5606-6DC5-4A43-91BA-969B54432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4C16D8-B479-BB46-AD7C-0AC4F5CEDC7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7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ADA8A-EE40-8D42-B058-429F77AD6030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4CEAF-3B24-A242-A428-FB8B1A7D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48054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81C1E-F57C-FB49-8A8C-E5F2C60D0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14406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B0757F-692F-4442-AC10-47BE80EC63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8801" b="16721"/>
          <a:stretch/>
        </p:blipFill>
        <p:spPr>
          <a:xfrm>
            <a:off x="5496490" y="237942"/>
            <a:ext cx="1327643" cy="85604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5C7F33-8A0F-C247-8673-DF3D12BB0E56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8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6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8A93EA-740D-534C-9F9A-851CAAFC6F5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7230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2B1C16-A483-9045-B5B4-5312C63A98D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DC1CD-60B7-3A48-9555-D2A53A2C6D9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F647ED5-144A-1F43-9397-C331DF9F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964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161288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293178-3B92-7843-ACDD-A6618DC287B8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52F457-B5E3-8F47-95DD-D367B00B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FC8432-B0CC-124E-92A6-31C64477B9C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4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3304" y="1161288"/>
            <a:ext cx="6763234" cy="291164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2B816-31A6-5D4A-A375-EC666A89A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1699" y="1161288"/>
            <a:ext cx="3549974" cy="4437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26C43-57A2-E347-AD98-A4972DDFF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068130-E2E2-5E46-8F8E-5AB9C589153C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6860F66-25E7-8E47-8582-F4D74F2E4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FC791A-95B2-5E41-9A70-75AB9C875165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1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CA925-A192-0942-8DCB-09514A197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8494-3E34-F041-B8E4-A88C3ED8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1CB6872-94EB-EB45-BDBF-F7D3974C9D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8758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DE1C7E-4CC2-C942-8FC1-BE8CDAB37D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E3E685A-2A2D-6D4B-90D0-C351A9D72C7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58758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AAE57A-FE05-9C4D-864E-23C54D16BF2F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55EC85A-83D7-754F-92C5-D85306B2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95DC7-61FB-464B-A0D1-046B8C0906C9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1FF22C-90B2-C248-AC4E-B2382376A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70C5A3-B0F2-B343-A1A8-822AF0AFBF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540" y="1530094"/>
            <a:ext cx="5501262" cy="194314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7D7183-C54B-2B4D-B36F-3DFB8F31E7F4}"/>
              </a:ext>
            </a:extLst>
          </p:cNvPr>
          <p:cNvSpPr/>
          <p:nvPr userDrawn="1"/>
        </p:nvSpPr>
        <p:spPr>
          <a:xfrm>
            <a:off x="73152" y="7315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31B2F-9578-7B4B-A18A-143A08D2528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7395722-9303-174D-ADA2-E8CEB2DD2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C5BA04E-B66F-8A48-943B-662CC1140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8779A3-A4DE-484C-BE3C-DB7ADCD2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43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5BD484-3EA0-2E4E-A60B-8C347D911C8D}"/>
              </a:ext>
            </a:extLst>
          </p:cNvPr>
          <p:cNvSpPr/>
          <p:nvPr/>
        </p:nvSpPr>
        <p:spPr>
          <a:xfrm>
            <a:off x="73152" y="73152"/>
            <a:ext cx="12037568" cy="6713728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noFill/>
              </a:rPr>
              <a:t>  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95B372-A8BB-B64B-AD18-74876C5FB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0943431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D42F22-D84C-BA44-A88C-5F7DF96918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1B5676D-862E-0E47-9C05-7682B86B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247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F04465-AABC-3A4F-8FC9-8995FEDCDC6F}"/>
              </a:ext>
            </a:extLst>
          </p:cNvPr>
          <p:cNvSpPr/>
          <p:nvPr/>
        </p:nvSpPr>
        <p:spPr>
          <a:xfrm>
            <a:off x="76200" y="76202"/>
            <a:ext cx="8839200" cy="6674095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FD6FA-B95F-4B4E-B8E9-6AA2FC8215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E481BF-4009-2943-A1EB-4159878519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5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2C405E-EB31-5040-A5D4-B62FD785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5" y="1161288"/>
            <a:ext cx="7668688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E52FE2-18BD-AE42-8568-24AFE8F2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7668689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2221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Bullets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BEC28D-04BA-104A-BA4B-BC3FEFA7E2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4771" y="1124903"/>
            <a:ext cx="4576693" cy="4576693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C8D256E-5B00-D64D-A0EC-80D6BD554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463" y="1161288"/>
            <a:ext cx="4826825" cy="383480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573F1-14B9-C145-93E8-D66D31701A10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0DA479-972A-AC44-8FF3-6E03BA01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658B93-7979-CF45-802B-A99C6576E858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80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1"/>
            <a:ext cx="12039600" cy="12283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2F6E4A-1F7B-5B40-9689-E5E7AB056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463040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6AB305-7FA0-2C41-ADCF-834278AB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884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705E69-3D25-EF43-9B57-0C3AC1F5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61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ltern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96A518-3E71-3F41-B51D-F3F8D63F1B0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9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r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ABD4948-F528-774E-A210-25D1BE40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474" y="261082"/>
            <a:ext cx="10515600" cy="798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B2080D5-BCF5-0642-B066-3A2589E22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474" y="1359698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D70B3E-6C46-734E-BC63-4349922825C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5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D46A-D5FE-DB4E-9784-A54A02D8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79968-F075-E745-9452-7E0CAAC6C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2380-0A23-D140-9B2B-5F141AB5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25EA-EF92-714F-B7AD-0B245EA4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7246F-5803-9542-865F-75DB9463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91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A31B4E-687D-2C4C-B95D-A513660DA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EFC86-AA65-C840-9828-EBFF405DC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5563C-0652-F94A-A10D-3A82E9DD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0E9DA-0CA4-8A46-9B6A-E0873DE6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26DA-2D9C-9848-8B94-21D740CE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8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85057" y="458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 i="0">
                <a:solidFill>
                  <a:schemeClr val="accent1"/>
                </a:solidFill>
                <a:latin typeface="Proxima Nova Semibold" panose="02000506030000020004" pitchFamily="50" charset="0"/>
                <a:ea typeface="Proxima Nova Semibold" panose="02000506030000020004" pitchFamily="50" charset="0"/>
                <a:cs typeface="Proxima Nova Semibold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1" y="1253823"/>
            <a:ext cx="590005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43B3D3-40A8-3046-B6AB-B81608DE9A5C}"/>
              </a:ext>
            </a:extLst>
          </p:cNvPr>
          <p:cNvCxnSpPr/>
          <p:nvPr userDrawn="1"/>
        </p:nvCxnSpPr>
        <p:spPr>
          <a:xfrm>
            <a:off x="3466640" y="6632154"/>
            <a:ext cx="8725360" cy="0"/>
          </a:xfrm>
          <a:prstGeom prst="line">
            <a:avLst/>
          </a:prstGeom>
          <a:ln w="25400">
            <a:solidFill>
              <a:srgbClr val="FF67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D94AF16-4C7A-0B4E-9E9B-4552F153A2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9535" y="5350042"/>
            <a:ext cx="1515544" cy="1507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31C6A-B9BE-7B40-BC2A-95807FB6F9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40" y="6211178"/>
            <a:ext cx="2013203" cy="61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87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1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F93D5-62F0-5145-AB64-7AC90B60F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F652F-5C50-294A-A9ED-638E2DAF4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796E1-F957-0F48-8AD0-8F8E3D0E5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6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Proxima Nova" panose="02000506030000020004" pitchFamily="2" charset="0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90000"/>
        </a:lnSpc>
        <a:spcBef>
          <a:spcPts val="1000"/>
        </a:spcBef>
        <a:buFont typeface="Courier New" panose="02070309020205020404" pitchFamily="49" charset="0"/>
        <a:buChar char="o"/>
        <a:tabLst/>
        <a:defRPr sz="20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1pPr>
      <a:lvl2pPr marL="7508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8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2pPr>
      <a:lvl3pPr marL="12080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6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3pPr>
      <a:lvl4pPr marL="16049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4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4pPr>
      <a:lvl5pPr marL="20621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2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624">
          <p15:clr>
            <a:srgbClr val="F26B43"/>
          </p15:clr>
        </p15:guide>
        <p15:guide id="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dirty="0"/>
              <a:t>In a DoS attack, attackers flood a victim’s system with non-legitimate service requests or traffic to overload its resources. 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The goal of a DoS attack is not to gain unauthorized access to a system or to corrupt data; it is to keep the legitimate users away from using the system.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The services under attack are those of the “primary victim,” whereas the compromised systems used to launch the attack are the “secondary victims.”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a Denial of Service (DoS) Incident?</a:t>
            </a:r>
          </a:p>
        </p:txBody>
      </p:sp>
    </p:spTree>
    <p:extLst>
      <p:ext uri="{BB962C8B-B14F-4D97-AF65-F5344CB8AC3E}">
        <p14:creationId xmlns:p14="http://schemas.microsoft.com/office/powerpoint/2010/main" val="421474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92500"/>
          </a:bodyPr>
          <a:lstStyle/>
          <a:p>
            <a:r>
              <a:rPr lang="en-US" sz="3400" dirty="0"/>
              <a:t>Volumetric Attacks </a:t>
            </a:r>
          </a:p>
          <a:p>
            <a:pPr lvl="1"/>
            <a:r>
              <a:rPr lang="en-US" sz="3200" dirty="0"/>
              <a:t> Flood &amp; Amplification</a:t>
            </a:r>
          </a:p>
          <a:p>
            <a:r>
              <a:rPr lang="en-US" sz="3400" dirty="0"/>
              <a:t>Protocol Attacks </a:t>
            </a:r>
          </a:p>
          <a:p>
            <a:r>
              <a:rPr lang="en-US" sz="3400" dirty="0"/>
              <a:t>Application Layer Attacks </a:t>
            </a:r>
          </a:p>
          <a:p>
            <a:r>
              <a:rPr lang="en-US" sz="3400" dirty="0"/>
              <a:t>Permanent Denial-of-Service Attack (</a:t>
            </a:r>
            <a:r>
              <a:rPr lang="en-US" sz="3400" dirty="0" err="1"/>
              <a:t>PDoS</a:t>
            </a:r>
            <a:r>
              <a:rPr lang="en-US" sz="3400" dirty="0"/>
              <a:t>)</a:t>
            </a:r>
          </a:p>
          <a:p>
            <a:pPr lvl="1"/>
            <a:r>
              <a:rPr lang="en-US" sz="3200" dirty="0"/>
              <a:t> A.K.A. </a:t>
            </a:r>
            <a:r>
              <a:rPr lang="en-US" sz="3200" dirty="0">
                <a:sym typeface="Wingdings" panose="05000000000000000000" pitchFamily="2" charset="2"/>
              </a:rPr>
              <a:t> </a:t>
            </a:r>
            <a:r>
              <a:rPr lang="en-US" sz="3200" dirty="0" err="1"/>
              <a:t>phlashing</a:t>
            </a:r>
            <a:endParaRPr lang="en-US" sz="3200" dirty="0"/>
          </a:p>
          <a:p>
            <a:r>
              <a:rPr lang="en-US" sz="3400" dirty="0"/>
              <a:t>Distributed Reflection Denial of Service (</a:t>
            </a:r>
            <a:r>
              <a:rPr lang="en-US" sz="3400" dirty="0" err="1"/>
              <a:t>DRDoS</a:t>
            </a:r>
            <a:r>
              <a:rPr lang="en-US" sz="3400" dirty="0"/>
              <a:t>) attack</a:t>
            </a:r>
          </a:p>
          <a:p>
            <a:pPr lvl="1"/>
            <a:r>
              <a:rPr lang="en-US" sz="3200" dirty="0"/>
              <a:t> A.K.A. </a:t>
            </a:r>
            <a:r>
              <a:rPr lang="en-US" sz="3200">
                <a:sym typeface="Wingdings" panose="05000000000000000000" pitchFamily="2" charset="2"/>
              </a:rPr>
              <a:t> </a:t>
            </a:r>
            <a:r>
              <a:rPr lang="en-US" sz="3200"/>
              <a:t>spoofed</a:t>
            </a:r>
            <a:endParaRPr lang="en-US" sz="3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different types of DoS/DDoS Incidents?</a:t>
            </a:r>
          </a:p>
        </p:txBody>
      </p:sp>
    </p:spTree>
    <p:extLst>
      <p:ext uri="{BB962C8B-B14F-4D97-AF65-F5344CB8AC3E}">
        <p14:creationId xmlns:p14="http://schemas.microsoft.com/office/powerpoint/2010/main" val="840775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92500" lnSpcReduction="10000"/>
          </a:bodyPr>
          <a:lstStyle/>
          <a:p>
            <a:r>
              <a:rPr lang="en-US" sz="3400" dirty="0"/>
              <a:t>The attacker commands the intermediary victims (zombies) to send a stream of TCP SYN packets with the primary target’s IP address as the source IP address to other non-compromised machines (secondary victims or reflectors) getting them to establish a connection with the primary target. </a:t>
            </a:r>
          </a:p>
          <a:p>
            <a:endParaRPr lang="en-US" sz="3400" dirty="0"/>
          </a:p>
          <a:p>
            <a:r>
              <a:rPr lang="en-US" sz="3400" dirty="0"/>
              <a:t>As a result, the reflectors send a huge volume of TCP SYN-ACK traffic to the primary target to establish a new connection with it.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the process involved in executing a </a:t>
            </a:r>
            <a:r>
              <a:rPr lang="en-US" dirty="0" err="1"/>
              <a:t>DRDoS</a:t>
            </a:r>
            <a:r>
              <a:rPr lang="en-US" dirty="0"/>
              <a:t> attack?</a:t>
            </a:r>
          </a:p>
        </p:txBody>
      </p:sp>
    </p:spTree>
    <p:extLst>
      <p:ext uri="{BB962C8B-B14F-4D97-AF65-F5344CB8AC3E}">
        <p14:creationId xmlns:p14="http://schemas.microsoft.com/office/powerpoint/2010/main" val="1970128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77500" lnSpcReduction="20000"/>
          </a:bodyPr>
          <a:lstStyle/>
          <a:p>
            <a:r>
              <a:rPr lang="en-US" sz="3400" dirty="0"/>
              <a:t>The primary target discards the SYN-ACK packets received from the reflectors, as it did not send the actual SYN packet. </a:t>
            </a:r>
          </a:p>
          <a:p>
            <a:endParaRPr lang="en-US" sz="3400" dirty="0"/>
          </a:p>
          <a:p>
            <a:r>
              <a:rPr lang="en-US" sz="3400" dirty="0"/>
              <a:t>The reflectors keep waiting for the TCP ACK response from the primary target. </a:t>
            </a:r>
          </a:p>
          <a:p>
            <a:endParaRPr lang="en-US" sz="3400" dirty="0"/>
          </a:p>
          <a:p>
            <a:r>
              <a:rPr lang="en-US" sz="3400" dirty="0"/>
              <a:t>Assuming that the packet lost its path, these bunches of reflector machines resend their TCP SYN-ACK packets to the primary target in an attempt to establish the connection, until time-out occurs. </a:t>
            </a:r>
          </a:p>
          <a:p>
            <a:endParaRPr lang="en-US" sz="3400" dirty="0"/>
          </a:p>
          <a:p>
            <a:r>
              <a:rPr lang="en-US" sz="3400" dirty="0"/>
              <a:t>The combined bandwidth of these reflector machines overwhelms the target machine.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the process involved in executing a </a:t>
            </a:r>
            <a:r>
              <a:rPr lang="en-US" dirty="0" err="1"/>
              <a:t>DRDoS</a:t>
            </a:r>
            <a:r>
              <a:rPr lang="en-US" dirty="0"/>
              <a:t> attack?</a:t>
            </a:r>
          </a:p>
        </p:txBody>
      </p:sp>
    </p:spTree>
    <p:extLst>
      <p:ext uri="{BB962C8B-B14F-4D97-AF65-F5344CB8AC3E}">
        <p14:creationId xmlns:p14="http://schemas.microsoft.com/office/powerpoint/2010/main" val="2063266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85000" lnSpcReduction="20000"/>
          </a:bodyPr>
          <a:lstStyle/>
          <a:p>
            <a:r>
              <a:rPr lang="en-US" sz="3200" b="1" dirty="0"/>
              <a:t>Activity Profiling</a:t>
            </a:r>
            <a:r>
              <a:rPr lang="en-US" sz="3200" dirty="0"/>
              <a:t> - done based on the average packet rate for a network flow, which consists of consecutive packets with similar packet header information</a:t>
            </a:r>
          </a:p>
          <a:p>
            <a:endParaRPr lang="en-US" sz="3200" dirty="0"/>
          </a:p>
          <a:p>
            <a:r>
              <a:rPr lang="en-US" sz="3200" b="1" dirty="0"/>
              <a:t>Sequential Change-point Detection</a:t>
            </a:r>
            <a:r>
              <a:rPr lang="en-US" sz="3200" dirty="0"/>
              <a:t> - filters network traffic by IP addresses, targeted port numbers, and communication protocols used, and stores the traffic flow data in a graph that shows the traffic flow rate versus time</a:t>
            </a:r>
          </a:p>
          <a:p>
            <a:endParaRPr lang="en-US" sz="3200" dirty="0"/>
          </a:p>
          <a:p>
            <a:r>
              <a:rPr lang="en-US" sz="3200" b="1" dirty="0"/>
              <a:t>Wavelet-based Signal Analysis</a:t>
            </a:r>
            <a:r>
              <a:rPr lang="en-US" sz="3200" dirty="0"/>
              <a:t> - divides incoming signals into various frequencies and analyzes different frequency components separately</a:t>
            </a:r>
          </a:p>
          <a:p>
            <a:endParaRPr lang="en-US" sz="3200" dirty="0"/>
          </a:p>
          <a:p>
            <a:endParaRPr lang="en-US" sz="3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How can we detect DoS/DDoS Incidents?</a:t>
            </a:r>
          </a:p>
        </p:txBody>
      </p:sp>
    </p:spTree>
    <p:extLst>
      <p:ext uri="{BB962C8B-B14F-4D97-AF65-F5344CB8AC3E}">
        <p14:creationId xmlns:p14="http://schemas.microsoft.com/office/powerpoint/2010/main" val="4182650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92500" lnSpcReduction="10000"/>
          </a:bodyPr>
          <a:lstStyle/>
          <a:p>
            <a:r>
              <a:rPr lang="en-US" sz="3400" dirty="0"/>
              <a:t>Absorb the Attack</a:t>
            </a:r>
          </a:p>
          <a:p>
            <a:r>
              <a:rPr lang="en-US" sz="3400" dirty="0"/>
              <a:t>Divert the Attack</a:t>
            </a:r>
          </a:p>
          <a:p>
            <a:r>
              <a:rPr lang="en-US" sz="3400" dirty="0"/>
              <a:t>Block the Attack</a:t>
            </a:r>
          </a:p>
          <a:p>
            <a:r>
              <a:rPr lang="en-US" sz="3400" dirty="0"/>
              <a:t>Degrade non-essential service(s)</a:t>
            </a:r>
          </a:p>
          <a:p>
            <a:r>
              <a:rPr lang="en-US" sz="3400" dirty="0"/>
              <a:t>Shutdown</a:t>
            </a:r>
          </a:p>
          <a:p>
            <a:r>
              <a:rPr lang="en-US" sz="3400" dirty="0"/>
              <a:t>Load Balancing</a:t>
            </a:r>
          </a:p>
          <a:p>
            <a:r>
              <a:rPr lang="en-US" sz="3400" dirty="0"/>
              <a:t>Throttling</a:t>
            </a:r>
          </a:p>
          <a:p>
            <a:r>
              <a:rPr lang="en-US" sz="3400" dirty="0"/>
              <a:t>Drop requests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How do we contain DoS/DDoS Incidents?</a:t>
            </a:r>
          </a:p>
        </p:txBody>
      </p:sp>
    </p:spTree>
    <p:extLst>
      <p:ext uri="{BB962C8B-B14F-4D97-AF65-F5344CB8AC3E}">
        <p14:creationId xmlns:p14="http://schemas.microsoft.com/office/powerpoint/2010/main" val="155582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endParaRPr lang="en-US" sz="3400" dirty="0"/>
          </a:p>
          <a:p>
            <a:r>
              <a:rPr lang="en-US" sz="3400" dirty="0"/>
              <a:t>Traffic Pattern Analysis</a:t>
            </a:r>
          </a:p>
          <a:p>
            <a:r>
              <a:rPr lang="en-US" sz="3400" dirty="0"/>
              <a:t>Packet Traceback</a:t>
            </a:r>
          </a:p>
          <a:p>
            <a:r>
              <a:rPr lang="en-US" sz="3400" dirty="0"/>
              <a:t>Event Log Analysis</a:t>
            </a:r>
          </a:p>
          <a:p>
            <a:pPr marL="0" indent="0">
              <a:buNone/>
            </a:pPr>
            <a:endParaRPr lang="en-US" sz="3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about Post Attack Forensics?</a:t>
            </a:r>
          </a:p>
        </p:txBody>
      </p:sp>
    </p:spTree>
    <p:extLst>
      <p:ext uri="{BB962C8B-B14F-4D97-AF65-F5344CB8AC3E}">
        <p14:creationId xmlns:p14="http://schemas.microsoft.com/office/powerpoint/2010/main" val="58001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endParaRPr lang="en-US" sz="3400" dirty="0"/>
          </a:p>
          <a:p>
            <a:r>
              <a:rPr lang="en-US" sz="3400" dirty="0"/>
              <a:t>Ingress/Egress filtering</a:t>
            </a:r>
          </a:p>
          <a:p>
            <a:r>
              <a:rPr lang="en-US" sz="3400" dirty="0"/>
              <a:t>TCP Intercept (Cisco)</a:t>
            </a:r>
          </a:p>
          <a:p>
            <a:r>
              <a:rPr lang="en-US" sz="3400" dirty="0"/>
              <a:t>Rate Limiting - configured to limit the rate of requests at layers 4 and 5 of the OSI model</a:t>
            </a:r>
          </a:p>
          <a:p>
            <a:pPr marL="0" indent="0">
              <a:buNone/>
            </a:pPr>
            <a:endParaRPr lang="en-US" sz="3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about Eradicating DoS/DDoS Incidents: Blocking Potential Attacks?</a:t>
            </a:r>
          </a:p>
        </p:txBody>
      </p:sp>
    </p:spTree>
    <p:extLst>
      <p:ext uri="{BB962C8B-B14F-4D97-AF65-F5344CB8AC3E}">
        <p14:creationId xmlns:p14="http://schemas.microsoft.com/office/powerpoint/2010/main" val="3536351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r>
              <a:rPr lang="en-US" sz="3400" dirty="0"/>
              <a:t>RFC 3704 filtering by denying traffic with spoofed addresses. Filter requires packets sourced from valid, allocated address space. A “bogon list” consists of all unused or reserved IP addresses that should not come in from the internet.</a:t>
            </a:r>
          </a:p>
          <a:p>
            <a:endParaRPr lang="en-US" sz="3400" dirty="0"/>
          </a:p>
          <a:p>
            <a:r>
              <a:rPr lang="en-US" sz="3400" dirty="0"/>
              <a:t>IPS Source / IP Reputation Filtering</a:t>
            </a:r>
          </a:p>
          <a:p>
            <a:pPr marL="0" indent="0">
              <a:buNone/>
            </a:pPr>
            <a:endParaRPr lang="en-US" sz="3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about Eradicating DoS/DDoS Incidents: Disabling Botnets?</a:t>
            </a:r>
          </a:p>
        </p:txBody>
      </p:sp>
    </p:spTree>
    <p:extLst>
      <p:ext uri="{BB962C8B-B14F-4D97-AF65-F5344CB8AC3E}">
        <p14:creationId xmlns:p14="http://schemas.microsoft.com/office/powerpoint/2010/main" val="75041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r>
              <a:rPr lang="en-US" sz="3400" dirty="0"/>
              <a:t>Black hole filtering of incoming traffic that is discarded or dropped without informing the source that the data did not reach its intended recipient</a:t>
            </a:r>
          </a:p>
          <a:p>
            <a:endParaRPr lang="en-US" sz="3400" dirty="0"/>
          </a:p>
          <a:p>
            <a:r>
              <a:rPr lang="en-US" sz="3400" dirty="0"/>
              <a:t>Enable IP Source Guard (Cisco) or similar features in other routers to filter traffic based on the DHCP snooping binding database or IP source bindings, preventing a bot from sending spoofed packets</a:t>
            </a:r>
          </a:p>
          <a:p>
            <a:pPr marL="0" indent="0">
              <a:buNone/>
            </a:pPr>
            <a:endParaRPr lang="en-US" sz="3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about Eradicating DoS/DDoS Incidents: Disabling Botnets?</a:t>
            </a:r>
          </a:p>
        </p:txBody>
      </p:sp>
    </p:spTree>
    <p:extLst>
      <p:ext uri="{BB962C8B-B14F-4D97-AF65-F5344CB8AC3E}">
        <p14:creationId xmlns:p14="http://schemas.microsoft.com/office/powerpoint/2010/main" val="1050377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019 Presentation Dark Theme">
  <a:themeElements>
    <a:clrScheme name="6cc241">
      <a:dk1>
        <a:srgbClr val="151945"/>
      </a:dk1>
      <a:lt1>
        <a:srgbClr val="FFFFFF"/>
      </a:lt1>
      <a:dk2>
        <a:srgbClr val="151746"/>
      </a:dk2>
      <a:lt2>
        <a:srgbClr val="FFFFFF"/>
      </a:lt2>
      <a:accent1>
        <a:srgbClr val="F9F9FA"/>
      </a:accent1>
      <a:accent2>
        <a:srgbClr val="FF671F"/>
      </a:accent2>
      <a:accent3>
        <a:srgbClr val="00A3E0"/>
      </a:accent3>
      <a:accent4>
        <a:srgbClr val="10069F"/>
      </a:accent4>
      <a:accent5>
        <a:srgbClr val="6CC249"/>
      </a:accent5>
      <a:accent6>
        <a:srgbClr val="9C9BA7"/>
      </a:accent6>
      <a:hlink>
        <a:srgbClr val="FF671F"/>
      </a:hlink>
      <a:folHlink>
        <a:srgbClr val="FF671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W_ONLY" id="{65C80431-16F2-514A-97BA-71A18EFAAF0C}" vid="{8E954B59-A4E7-B141-A2A5-05D60EBF4B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F4BBF0267C540AB0714A5A9B8B2A0" ma:contentTypeVersion="13" ma:contentTypeDescription="Create a new document." ma:contentTypeScope="" ma:versionID="6b71af909276ca060a08b3157d1d9f21">
  <xsd:schema xmlns:xsd="http://www.w3.org/2001/XMLSchema" xmlns:xs="http://www.w3.org/2001/XMLSchema" xmlns:p="http://schemas.microsoft.com/office/2006/metadata/properties" xmlns:ns2="25f43890-8f97-4037-b6ca-5734ee50196d" xmlns:ns3="7de64167-ec1d-41c3-9c60-bdac5dd5df14" targetNamespace="http://schemas.microsoft.com/office/2006/metadata/properties" ma:root="true" ma:fieldsID="607d6bf6d8f5d26c8c8fd76553af5be9" ns2:_="" ns3:_="">
    <xsd:import namespace="25f43890-8f97-4037-b6ca-5734ee50196d"/>
    <xsd:import namespace="7de64167-ec1d-41c3-9c60-bdac5dd5df1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Flow_SignoffStatu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f43890-8f97-4037-b6ca-5734ee5019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64167-ec1d-41c3-9c60-bdac5dd5df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_Flow_SignoffStatus" ma:index="16" nillable="true" ma:displayName="Sign-off status" ma:internalName="Sign_x002d_off_x0020_status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7de64167-ec1d-41c3-9c60-bdac5dd5df14" xsi:nil="true"/>
  </documentManagement>
</p:properties>
</file>

<file path=customXml/itemProps1.xml><?xml version="1.0" encoding="utf-8"?>
<ds:datastoreItem xmlns:ds="http://schemas.openxmlformats.org/officeDocument/2006/customXml" ds:itemID="{A98EDCD3-8961-4405-86EE-26DAE025CD31}"/>
</file>

<file path=customXml/itemProps2.xml><?xml version="1.0" encoding="utf-8"?>
<ds:datastoreItem xmlns:ds="http://schemas.openxmlformats.org/officeDocument/2006/customXml" ds:itemID="{C8E5C0B1-785E-4862-B3A9-D38DA08FAE02}"/>
</file>

<file path=customXml/itemProps3.xml><?xml version="1.0" encoding="utf-8"?>
<ds:datastoreItem xmlns:ds="http://schemas.openxmlformats.org/officeDocument/2006/customXml" ds:itemID="{784DCC79-1E4F-47C0-B3C9-2E044718A53B}"/>
</file>

<file path=docProps/app.xml><?xml version="1.0" encoding="utf-8"?>
<Properties xmlns="http://schemas.openxmlformats.org/officeDocument/2006/extended-properties" xmlns:vt="http://schemas.openxmlformats.org/officeDocument/2006/docPropsVTypes">
  <TotalTime>2591</TotalTime>
  <Words>637</Words>
  <Application>Microsoft Office PowerPoint</Application>
  <PresentationFormat>Widescreen</PresentationFormat>
  <Paragraphs>70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Adelle Sans</vt:lpstr>
      <vt:lpstr>Arial</vt:lpstr>
      <vt:lpstr>Calibri</vt:lpstr>
      <vt:lpstr>Courier New</vt:lpstr>
      <vt:lpstr>Proxima Nova</vt:lpstr>
      <vt:lpstr>Proxima Nova Semibold</vt:lpstr>
      <vt:lpstr>2019 Presentation Dark Theme</vt:lpstr>
      <vt:lpstr>What is a Denial of Service (DoS) Incident?</vt:lpstr>
      <vt:lpstr>What are the different types of DoS/DDoS Incidents?</vt:lpstr>
      <vt:lpstr>What is the process involved in executing a DRDoS attack?</vt:lpstr>
      <vt:lpstr>What is the process involved in executing a DRDoS attack?</vt:lpstr>
      <vt:lpstr>How can we detect DoS/DDoS Incidents?</vt:lpstr>
      <vt:lpstr>How do we contain DoS/DDoS Incidents?</vt:lpstr>
      <vt:lpstr>What about Post Attack Forensics?</vt:lpstr>
      <vt:lpstr>What about Eradicating DoS/DDoS Incidents: Blocking Potential Attacks?</vt:lpstr>
      <vt:lpstr>What about Eradicating DoS/DDoS Incidents: Disabling Botnets?</vt:lpstr>
      <vt:lpstr>What about Eradicating DoS/DDoS Incidents: Disabling Botnets?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 identity and access (20-25%)</dc:title>
  <dc:creator>Adam Gordon</dc:creator>
  <cp:lastModifiedBy>Adam Gordon</cp:lastModifiedBy>
  <cp:revision>139</cp:revision>
  <cp:lastPrinted>2020-04-29T19:12:33Z</cp:lastPrinted>
  <dcterms:created xsi:type="dcterms:W3CDTF">2020-04-24T18:08:50Z</dcterms:created>
  <dcterms:modified xsi:type="dcterms:W3CDTF">2020-09-23T18:37:28Z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0x0101006C1F4BBF0267C540AB0714A5A9B8B2A0</vt:lpwstr>
  </property>
</Properties>
</file>