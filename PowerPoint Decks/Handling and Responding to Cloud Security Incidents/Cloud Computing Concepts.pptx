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0" r:id="rId2"/>
    <p:sldId id="2881" r:id="rId3"/>
    <p:sldId id="2894" r:id="rId4"/>
    <p:sldId id="2888" r:id="rId5"/>
    <p:sldId id="2893" r:id="rId6"/>
    <p:sldId id="2889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27498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70462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76296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2353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r>
              <a:rPr lang="en-US" sz="3400" dirty="0"/>
              <a:t>	On-demand self service </a:t>
            </a:r>
          </a:p>
          <a:p>
            <a:r>
              <a:rPr lang="en-US" sz="3400" dirty="0"/>
              <a:t>	Distributed storage </a:t>
            </a:r>
          </a:p>
          <a:p>
            <a:r>
              <a:rPr lang="en-US" sz="3400" dirty="0"/>
              <a:t>	Rapid elasticity </a:t>
            </a:r>
          </a:p>
          <a:p>
            <a:r>
              <a:rPr lang="en-US" sz="3400" dirty="0"/>
              <a:t>	Automated management</a:t>
            </a:r>
          </a:p>
          <a:p>
            <a:r>
              <a:rPr lang="en-US" sz="3400" dirty="0"/>
              <a:t>	Broad network access </a:t>
            </a:r>
          </a:p>
          <a:p>
            <a:r>
              <a:rPr lang="en-US" sz="3400" dirty="0"/>
              <a:t>	Resource pooling </a:t>
            </a:r>
          </a:p>
          <a:p>
            <a:r>
              <a:rPr lang="en-US" sz="3400" dirty="0"/>
              <a:t>	Measured service </a:t>
            </a:r>
          </a:p>
          <a:p>
            <a:r>
              <a:rPr lang="en-US" sz="3400" dirty="0"/>
              <a:t>	Virtualization technology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defining characteristics of Cloud?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/>
              <a:t>Infrastructure-as-a-Service (IaaS)</a:t>
            </a:r>
            <a:r>
              <a:rPr lang="en-US" sz="3400" dirty="0"/>
              <a:t> – hardware controlled by the provider … EVERYTHING ELSE controlled by the customer</a:t>
            </a:r>
          </a:p>
          <a:p>
            <a:pPr marL="0" indent="0">
              <a:buNone/>
            </a:pPr>
            <a:r>
              <a:rPr lang="en-US" sz="3400" dirty="0"/>
              <a:t>	</a:t>
            </a:r>
          </a:p>
          <a:p>
            <a:pPr marL="0" indent="0">
              <a:buNone/>
            </a:pPr>
            <a:r>
              <a:rPr lang="en-US" sz="3400" b="1" dirty="0"/>
              <a:t>Platform-as-a-Service (PaaS)</a:t>
            </a:r>
            <a:r>
              <a:rPr lang="en-US" sz="3400" dirty="0"/>
              <a:t> – 50/50 split … IaaS +O/S controlled by provider … Application’s &amp; IDE controlled by customer</a:t>
            </a:r>
          </a:p>
          <a:p>
            <a:pPr marL="0" indent="0">
              <a:buNone/>
            </a:pPr>
            <a:r>
              <a:rPr lang="en-US" sz="3400" dirty="0"/>
              <a:t>	</a:t>
            </a:r>
          </a:p>
          <a:p>
            <a:pPr marL="0" indent="0">
              <a:buNone/>
            </a:pPr>
            <a:r>
              <a:rPr lang="en-US" sz="3400" b="1" dirty="0"/>
              <a:t>Software-as-a-Service (SaaS)</a:t>
            </a:r>
            <a:r>
              <a:rPr lang="en-US" sz="3400" dirty="0"/>
              <a:t> –  EVERTYTHING EXCEPT data and user access is controlled by </a:t>
            </a:r>
            <a:r>
              <a:rPr lang="en-US" sz="3400"/>
              <a:t>the provider</a:t>
            </a: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three accepted types of Cloud Computing Services?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400" b="1" dirty="0"/>
              <a:t>Private</a:t>
            </a:r>
            <a:r>
              <a:rPr lang="en-US" sz="3400" dirty="0"/>
              <a:t> - infrastructure is provisioned for exclusive use by a single organization.</a:t>
            </a:r>
          </a:p>
          <a:p>
            <a:pPr marL="0" indent="0">
              <a:buNone/>
            </a:pPr>
            <a:r>
              <a:rPr lang="en-US" sz="3400" b="1" dirty="0"/>
              <a:t>Public</a:t>
            </a:r>
            <a:r>
              <a:rPr lang="en-US" sz="3400" dirty="0"/>
              <a:t> - infrastructure is provisioned for open use by the general public.</a:t>
            </a:r>
          </a:p>
          <a:p>
            <a:pPr marL="0" indent="0">
              <a:buNone/>
            </a:pPr>
            <a:r>
              <a:rPr lang="en-US" sz="3400" b="1" dirty="0"/>
              <a:t>Hybrid</a:t>
            </a:r>
            <a:r>
              <a:rPr lang="en-US" sz="3400" dirty="0"/>
              <a:t> - infrastructure is a composition of two or more distinct cloud infrastructures (private, community, or public).</a:t>
            </a:r>
          </a:p>
          <a:p>
            <a:pPr marL="0" indent="0">
              <a:buNone/>
            </a:pPr>
            <a:r>
              <a:rPr lang="en-US" sz="3400" b="1" dirty="0"/>
              <a:t>Community</a:t>
            </a:r>
            <a:r>
              <a:rPr lang="en-US" sz="3400" dirty="0"/>
              <a:t> - infrastructure is provisioned for exclusive use by a specific community of consumers from organizations.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Cloud Deployment Models?</a:t>
            </a:r>
          </a:p>
        </p:txBody>
      </p:sp>
    </p:spTree>
    <p:extLst>
      <p:ext uri="{BB962C8B-B14F-4D97-AF65-F5344CB8AC3E}">
        <p14:creationId xmlns:p14="http://schemas.microsoft.com/office/powerpoint/2010/main" val="342945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>
            <a:normAutofit/>
          </a:bodyPr>
          <a:lstStyle/>
          <a:p>
            <a:r>
              <a:rPr lang="en-US" dirty="0"/>
              <a:t>What are the separation of responsibilities in the Cloud?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0A462E-D432-400F-9DB0-F07031B56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1517545"/>
            <a:ext cx="9867900" cy="435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7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b="1" dirty="0"/>
              <a:t>Cloud Consumer</a:t>
            </a:r>
            <a:r>
              <a:rPr lang="en-US" sz="3400" dirty="0"/>
              <a:t> - A person or organization that uses cloud computing services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Cloud Provider</a:t>
            </a:r>
            <a:r>
              <a:rPr lang="en-US" sz="3400" dirty="0"/>
              <a:t> - A person or organization providing services to interested parties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Cloud Carrier</a:t>
            </a:r>
            <a:r>
              <a:rPr lang="en-US" sz="3400" dirty="0"/>
              <a:t> - An intermediary for providing connectivity and transport services between cloud consumers and providers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b="1" dirty="0"/>
              <a:t>Cloud Auditor</a:t>
            </a:r>
            <a:r>
              <a:rPr lang="en-US" sz="3400" dirty="0"/>
              <a:t> - A party for making independent assessments of cloud service controls and taking an opinion thereon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>
            <a:normAutofit/>
          </a:bodyPr>
          <a:lstStyle/>
          <a:p>
            <a:r>
              <a:rPr lang="en-US" dirty="0"/>
              <a:t>What are the roles/actors defined by the NIST Cloud Reference Architecture? (SP 500-292)</a:t>
            </a:r>
          </a:p>
        </p:txBody>
      </p:sp>
    </p:spTree>
    <p:extLst>
      <p:ext uri="{BB962C8B-B14F-4D97-AF65-F5344CB8AC3E}">
        <p14:creationId xmlns:p14="http://schemas.microsoft.com/office/powerpoint/2010/main" val="2358524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400" b="1" dirty="0"/>
              <a:t>Cloud Broker</a:t>
            </a:r>
            <a:r>
              <a:rPr lang="en-US" sz="3400" dirty="0"/>
              <a:t> - An entity to manage cloud services in terms of use, performance, and delivery who also maintains relationship between cloud providers and consumers</a:t>
            </a:r>
          </a:p>
          <a:p>
            <a:pPr marL="0" indent="0">
              <a:buNone/>
            </a:pPr>
            <a:r>
              <a:rPr lang="en-US" sz="3400" dirty="0"/>
              <a:t> </a:t>
            </a:r>
          </a:p>
          <a:p>
            <a:pPr marL="0" indent="0">
              <a:buNone/>
            </a:pPr>
            <a:r>
              <a:rPr lang="en-US" sz="3400" dirty="0"/>
              <a:t>	o </a:t>
            </a:r>
            <a:r>
              <a:rPr lang="en-US" sz="3400" b="1" dirty="0"/>
              <a:t>Service Intermediation</a:t>
            </a:r>
            <a:r>
              <a:rPr lang="en-US" sz="3400" dirty="0"/>
              <a:t> - Improves a given function by a specific capability and provides value-added services to cloud customers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o </a:t>
            </a:r>
            <a:r>
              <a:rPr lang="en-US" sz="3400" b="1" dirty="0"/>
              <a:t>Service Aggregation</a:t>
            </a:r>
            <a:r>
              <a:rPr lang="en-US" sz="3400" dirty="0"/>
              <a:t> - Combines and integrates multiple services into one or more new services 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o </a:t>
            </a:r>
            <a:r>
              <a:rPr lang="en-US" sz="3400" b="1" dirty="0"/>
              <a:t>Service Arbitrage</a:t>
            </a:r>
            <a:r>
              <a:rPr lang="en-US" sz="3400" dirty="0"/>
              <a:t> - the services being aggregated are not fixed (cloud broker has the flexibility to choose services from multiple agencies)</a:t>
            </a:r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>
            <a:normAutofit/>
          </a:bodyPr>
          <a:lstStyle/>
          <a:p>
            <a:r>
              <a:rPr lang="en-US" dirty="0"/>
              <a:t>What are the roles/actors defined by the NIST Cloud Reference Architecture? (SP 500-292)</a:t>
            </a:r>
          </a:p>
        </p:txBody>
      </p:sp>
    </p:spTree>
    <p:extLst>
      <p:ext uri="{BB962C8B-B14F-4D97-AF65-F5344CB8AC3E}">
        <p14:creationId xmlns:p14="http://schemas.microsoft.com/office/powerpoint/2010/main" val="95079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2D22BCBC-3968-4B7D-AFB3-753DF3601D2E}"/>
</file>

<file path=customXml/itemProps2.xml><?xml version="1.0" encoding="utf-8"?>
<ds:datastoreItem xmlns:ds="http://schemas.openxmlformats.org/officeDocument/2006/customXml" ds:itemID="{6E6A6BDF-4999-4792-8F2E-B69F97DF5F71}"/>
</file>

<file path=customXml/itemProps3.xml><?xml version="1.0" encoding="utf-8"?>
<ds:datastoreItem xmlns:ds="http://schemas.openxmlformats.org/officeDocument/2006/customXml" ds:itemID="{022D55D2-8E13-459F-B0B1-262CAC1845C7}"/>
</file>

<file path=docProps/app.xml><?xml version="1.0" encoding="utf-8"?>
<Properties xmlns="http://schemas.openxmlformats.org/officeDocument/2006/extended-properties" xmlns:vt="http://schemas.openxmlformats.org/officeDocument/2006/docPropsVTypes">
  <TotalTime>2484</TotalTime>
  <Words>373</Words>
  <Application>Microsoft Office PowerPoint</Application>
  <PresentationFormat>Widescreen</PresentationFormat>
  <Paragraphs>43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are the defining characteristics of Cloud?</vt:lpstr>
      <vt:lpstr>What are the three accepted types of Cloud Computing Services?</vt:lpstr>
      <vt:lpstr>What are the Cloud Deployment Models?</vt:lpstr>
      <vt:lpstr>What are the separation of responsibilities in the Cloud?</vt:lpstr>
      <vt:lpstr>What are the roles/actors defined by the NIST Cloud Reference Architecture? (SP 500-292)</vt:lpstr>
      <vt:lpstr>What are the roles/actors defined by the NIST Cloud Reference Architecture? (SP 500-292)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97</cp:revision>
  <cp:lastPrinted>2020-04-29T19:12:33Z</cp:lastPrinted>
  <dcterms:created xsi:type="dcterms:W3CDTF">2020-04-24T18:08:50Z</dcterms:created>
  <dcterms:modified xsi:type="dcterms:W3CDTF">2020-08-27T17:49:38Z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