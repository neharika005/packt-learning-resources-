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880" r:id="rId2"/>
    <p:sldId id="2881" r:id="rId3"/>
    <p:sldId id="2894" r:id="rId4"/>
    <p:sldId id="2895" r:id="rId5"/>
    <p:sldId id="2896" r:id="rId6"/>
    <p:sldId id="2897" r:id="rId7"/>
    <p:sldId id="2889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27498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1588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4548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9150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353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79B9C6-FF94-4CA5-9D4E-F1279DAC4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300" y="1533526"/>
            <a:ext cx="11249025" cy="4191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Incident Handling responsibilities in Cloud 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A01DAE3-CF85-4EFA-BAFE-5CEF83315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998632"/>
              </p:ext>
            </p:extLst>
          </p:nvPr>
        </p:nvGraphicFramePr>
        <p:xfrm>
          <a:off x="1562100" y="1285875"/>
          <a:ext cx="8867775" cy="5137600"/>
        </p:xfrm>
        <a:graphic>
          <a:graphicData uri="http://schemas.openxmlformats.org/drawingml/2006/table">
            <a:tbl>
              <a:tblPr firstRow="1" firstCol="1" bandRow="1"/>
              <a:tblGrid>
                <a:gridCol w="2955293">
                  <a:extLst>
                    <a:ext uri="{9D8B030D-6E8A-4147-A177-3AD203B41FA5}">
                      <a16:colId xmlns:a16="http://schemas.microsoft.com/office/drawing/2014/main" val="3469542593"/>
                    </a:ext>
                  </a:extLst>
                </a:gridCol>
                <a:gridCol w="2956241">
                  <a:extLst>
                    <a:ext uri="{9D8B030D-6E8A-4147-A177-3AD203B41FA5}">
                      <a16:colId xmlns:a16="http://schemas.microsoft.com/office/drawing/2014/main" val="3585498517"/>
                    </a:ext>
                  </a:extLst>
                </a:gridCol>
                <a:gridCol w="2956241">
                  <a:extLst>
                    <a:ext uri="{9D8B030D-6E8A-4147-A177-3AD203B41FA5}">
                      <a16:colId xmlns:a16="http://schemas.microsoft.com/office/drawing/2014/main" val="2224790405"/>
                    </a:ext>
                  </a:extLst>
                </a:gridCol>
              </a:tblGrid>
              <a:tr h="2830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421822"/>
                  </a:ext>
                </a:extLst>
              </a:tr>
              <a:tr h="16815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IaaS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Has access to the system, application, and accounts IaaS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Completely responsible for detecting and responding to security incidents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Will not be able to investigate CSP controlled network and database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Will be responsible for network and database incidents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Should provide logs related to the storage, network, and virtual machines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Responsible for all possible evidences from memory, network traffic, and media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136856"/>
                  </a:ext>
                </a:extLst>
              </a:tr>
              <a:tr h="16815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PaaS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Responsible for application and its security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Analyze changes to data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Can gather login and access information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Need evidences gathered by CSP for incident response process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Enables generation of application log, storage, and secure access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Should provide the storage, network, virtual machines, runtime, and server logs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998201"/>
                  </a:ext>
                </a:extLst>
              </a:tr>
              <a:tr h="1116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SaaS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Has access only to the login accounts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Can collect access related data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Depends on CSP for storage, network, virtual machines, runtime, and server logs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Completely responsible for incident handling and response process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effectLst/>
                          <a:latin typeface="Roboto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• Should collect and analyze data to detect incidents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99909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Incident Handling responsibilities in Cloud 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Architecture and Identification –</a:t>
            </a:r>
          </a:p>
          <a:p>
            <a:pPr marL="0" indent="0">
              <a:buNone/>
            </a:pPr>
            <a:endParaRPr lang="en-US" sz="3400" b="1" dirty="0"/>
          </a:p>
          <a:p>
            <a:r>
              <a:rPr lang="en-US" sz="3400" dirty="0"/>
              <a:t>	Deletion in the cloud</a:t>
            </a:r>
          </a:p>
          <a:p>
            <a:r>
              <a:rPr lang="en-US" sz="3400" dirty="0"/>
              <a:t>	Recovering overwritten data</a:t>
            </a:r>
          </a:p>
          <a:p>
            <a:r>
              <a:rPr lang="en-US" sz="3400" dirty="0"/>
              <a:t>	Interoperability issues among CSPs</a:t>
            </a:r>
          </a:p>
          <a:p>
            <a:r>
              <a:rPr lang="en-US" sz="3400" dirty="0"/>
              <a:t>	Single points of failure (but not for bad actors !!)</a:t>
            </a:r>
          </a:p>
          <a:p>
            <a:r>
              <a:rPr lang="en-US" sz="3400" dirty="0"/>
              <a:t>	Detection of the malicious act</a:t>
            </a:r>
          </a:p>
          <a:p>
            <a:r>
              <a:rPr lang="en-US" sz="3400" dirty="0"/>
              <a:t>	Multiple venues and geo-locations</a:t>
            </a:r>
          </a:p>
          <a:p>
            <a:r>
              <a:rPr lang="en-US" sz="3400" dirty="0"/>
              <a:t>	Cloud confiscation and resource seizure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challenges in handling and responding to cloud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342945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/>
              <a:t>Data Collection –</a:t>
            </a:r>
          </a:p>
          <a:p>
            <a:pPr marL="0" indent="0">
              <a:buNone/>
            </a:pPr>
            <a:endParaRPr lang="en-US" sz="3400" b="1" dirty="0"/>
          </a:p>
          <a:p>
            <a:r>
              <a:rPr lang="en-US" sz="3400" dirty="0"/>
              <a:t>	Decreased access and data control</a:t>
            </a:r>
          </a:p>
          <a:p>
            <a:r>
              <a:rPr lang="en-US" sz="3400" dirty="0"/>
              <a:t>	Data location</a:t>
            </a:r>
          </a:p>
          <a:p>
            <a:r>
              <a:rPr lang="en-US" sz="3400" dirty="0"/>
              <a:t>	Imaging and isolating data</a:t>
            </a:r>
          </a:p>
          <a:p>
            <a:r>
              <a:rPr lang="en-US" sz="3400" dirty="0"/>
              <a:t>	Data available for a limited time</a:t>
            </a:r>
          </a:p>
          <a:p>
            <a:r>
              <a:rPr lang="en-US" sz="3400" dirty="0"/>
              <a:t>	Live forensics</a:t>
            </a:r>
          </a:p>
          <a:p>
            <a:r>
              <a:rPr lang="en-US" sz="3400" dirty="0"/>
              <a:t>	Data integrity and evidence preservation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challenges in handling and responding to cloud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86470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/>
              <a:t>Analysis -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	Evidence correlation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  <a:p>
            <a:r>
              <a:rPr lang="en-US" sz="3400" dirty="0"/>
              <a:t>	Timestamp synchronization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  <a:p>
            <a:r>
              <a:rPr lang="en-US" sz="3400" dirty="0"/>
              <a:t>	Use of metadata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challenges in handling and responding to cloud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260017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Legal -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	Missing terms in contract or SLA</a:t>
            </a:r>
          </a:p>
          <a:p>
            <a:r>
              <a:rPr lang="en-US" sz="3400" dirty="0"/>
              <a:t>	Reliance on cloud providers</a:t>
            </a:r>
          </a:p>
          <a:p>
            <a:r>
              <a:rPr lang="en-US" sz="3400" dirty="0"/>
              <a:t>	Physical data location</a:t>
            </a:r>
          </a:p>
          <a:p>
            <a:r>
              <a:rPr lang="en-US" sz="3400" dirty="0"/>
              <a:t>	Lack of international agreements and laws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challenges in handling and responding to cloud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349829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Eradication is the process of removing the compromised cloud networks and applications that can represent attacks. </a:t>
            </a:r>
          </a:p>
          <a:p>
            <a:pPr marL="0" indent="0">
              <a:buNone/>
            </a:pPr>
            <a:endParaRPr lang="en-US" sz="3400" dirty="0"/>
          </a:p>
          <a:p>
            <a:pPr marL="514350" indent="-514350">
              <a:buFont typeface="+mj-lt"/>
              <a:buAutoNum type="arabicPeriod"/>
            </a:pPr>
            <a:r>
              <a:rPr lang="en-US" sz="3400" dirty="0"/>
              <a:t>	Clean up the infected software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/>
              <a:t>	Rebuild or reconstruct compromised networks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/>
              <a:t>	Notify the relevant officials about the incident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How do we eradicate Cloud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95079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847DEFA9-0B34-4E1A-9051-75D4E39E27AA}"/>
</file>

<file path=customXml/itemProps2.xml><?xml version="1.0" encoding="utf-8"?>
<ds:datastoreItem xmlns:ds="http://schemas.openxmlformats.org/officeDocument/2006/customXml" ds:itemID="{35C15920-13F9-40B7-9530-5A3378FA817A}"/>
</file>

<file path=customXml/itemProps3.xml><?xml version="1.0" encoding="utf-8"?>
<ds:datastoreItem xmlns:ds="http://schemas.openxmlformats.org/officeDocument/2006/customXml" ds:itemID="{4AA6133D-9681-438F-AF42-09A02C639450}"/>
</file>

<file path=docProps/app.xml><?xml version="1.0" encoding="utf-8"?>
<Properties xmlns="http://schemas.openxmlformats.org/officeDocument/2006/extended-properties" xmlns:vt="http://schemas.openxmlformats.org/officeDocument/2006/docPropsVTypes">
  <TotalTime>2464</TotalTime>
  <Words>426</Words>
  <Application>Microsoft Office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Roboto</vt:lpstr>
      <vt:lpstr>2019 Presentation Dark Theme</vt:lpstr>
      <vt:lpstr>What are the Incident Handling responsibilities in Cloud ?</vt:lpstr>
      <vt:lpstr>What are the Incident Handling responsibilities in Cloud ?</vt:lpstr>
      <vt:lpstr>What are the challenges in handling and responding to cloud security incidents?</vt:lpstr>
      <vt:lpstr>What are the challenges in handling and responding to cloud security incidents?</vt:lpstr>
      <vt:lpstr>What are the challenges in handling and responding to cloud security incidents?</vt:lpstr>
      <vt:lpstr>What are the challenges in handling and responding to cloud security incidents?</vt:lpstr>
      <vt:lpstr>How do we eradicate Cloud Security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102</cp:revision>
  <cp:lastPrinted>2020-04-29T19:12:33Z</cp:lastPrinted>
  <dcterms:created xsi:type="dcterms:W3CDTF">2020-04-24T18:08:50Z</dcterms:created>
  <dcterms:modified xsi:type="dcterms:W3CDTF">2020-08-27T18:16:55Z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