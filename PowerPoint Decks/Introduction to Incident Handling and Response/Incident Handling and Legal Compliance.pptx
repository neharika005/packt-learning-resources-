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80" r:id="rId2"/>
    <p:sldId id="2881" r:id="rId3"/>
    <p:sldId id="2882" r:id="rId4"/>
    <p:sldId id="2887" r:id="rId5"/>
    <p:sldId id="2883" r:id="rId6"/>
    <p:sldId id="2884" r:id="rId7"/>
    <p:sldId id="2885" r:id="rId8"/>
    <p:sldId id="2886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6656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0846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554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2432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95102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65790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Provides the assurance of the integrity, security, privacy, and confidentiality of information in both government and private organizations.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Vary by jurisdiction and country.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Violations may result in punishments ranging from fines to imprisonment.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role of law in Incident Handling?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Law enforcement agencies should be contacted only through designated individuals.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Organizations should not contact multiple agencies because it might result in jurisdictional conflicts.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Consult lawyers if an illegal act has occurred and if there are reporting responsibilities.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legal and jurisdictional issues when dealing with an Incident?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United States -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Sarbanes–Oxley Act (SOX)</a:t>
            </a:r>
          </a:p>
          <a:p>
            <a:r>
              <a:rPr lang="en-US" sz="3400" dirty="0"/>
              <a:t>Health Insurance Portability and Accountability Act (HIPAA)</a:t>
            </a:r>
          </a:p>
          <a:p>
            <a:r>
              <a:rPr lang="en-US" sz="3400" dirty="0"/>
              <a:t>Federal Information Security Management Act of 2002 (FISMA)</a:t>
            </a:r>
          </a:p>
          <a:p>
            <a:r>
              <a:rPr lang="en-US" sz="3400" dirty="0"/>
              <a:t>Gramm–Leach–Bliley Act (GLBA)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standards for Incident Handling and Legal Compliance?</a:t>
            </a:r>
          </a:p>
        </p:txBody>
      </p:sp>
    </p:spTree>
    <p:extLst>
      <p:ext uri="{BB962C8B-B14F-4D97-AF65-F5344CB8AC3E}">
        <p14:creationId xmlns:p14="http://schemas.microsoft.com/office/powerpoint/2010/main" val="244317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The Digital Millennium Copyright Act (DMCA) –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US copyright law that implements two 1996 treaties of the World Intellectual Property Organization (WIPO): 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WIPO Copyright Treaty </a:t>
            </a:r>
          </a:p>
          <a:p>
            <a:r>
              <a:rPr lang="en-US" sz="3400" dirty="0"/>
              <a:t>WIPO Performances and Phonograms Treaty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standards for Incident Handling and Legal Compliance?</a:t>
            </a:r>
          </a:p>
        </p:txBody>
      </p:sp>
    </p:spTree>
    <p:extLst>
      <p:ext uri="{BB962C8B-B14F-4D97-AF65-F5344CB8AC3E}">
        <p14:creationId xmlns:p14="http://schemas.microsoft.com/office/powerpoint/2010/main" val="199379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dirty="0"/>
              <a:t>UK Data Protection Act 2018 (DPA) - UK implementation of the EU’s GDPR legislation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o Requiring personal data to be processed lawfully and fairly, on the basis of the data subject’s consent or another specified basis </a:t>
            </a:r>
          </a:p>
          <a:p>
            <a:pPr marL="0" indent="0">
              <a:buNone/>
            </a:pPr>
            <a:r>
              <a:rPr lang="en-US" sz="3400" dirty="0"/>
              <a:t>	o Conferring rights on the data subject to obtain information about the processing of personal data and to require inaccurate personal data to be rectified </a:t>
            </a:r>
          </a:p>
          <a:p>
            <a:pPr marL="0" indent="0">
              <a:buNone/>
            </a:pPr>
            <a:r>
              <a:rPr lang="en-US" sz="3400" dirty="0"/>
              <a:t>	o Conferring functions on the Commissioner, giving the holder of that office responsibility for monitoring and enforcing their provisions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standards for Incident Handling and Legal Compliance?</a:t>
            </a:r>
          </a:p>
        </p:txBody>
      </p:sp>
    </p:spTree>
    <p:extLst>
      <p:ext uri="{BB962C8B-B14F-4D97-AF65-F5344CB8AC3E}">
        <p14:creationId xmlns:p14="http://schemas.microsoft.com/office/powerpoint/2010/main" val="120859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dirty="0"/>
              <a:t>European Union (EU) -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General Data Protection Regulation (GDPR) - replaces the Data Protection Directive 95/46/EC</a:t>
            </a:r>
          </a:p>
          <a:p>
            <a:pPr marL="0" indent="0">
              <a:buNone/>
            </a:pPr>
            <a:endParaRPr lang="en-US" sz="3400" dirty="0"/>
          </a:p>
          <a:p>
            <a:pPr marL="798512" lvl="1" indent="-457200"/>
            <a:r>
              <a:rPr lang="en-US" sz="3200" dirty="0"/>
              <a:t>Designed to harmonize data privacy laws across Europe</a:t>
            </a:r>
          </a:p>
          <a:p>
            <a:pPr marL="798512" lvl="1" indent="-457200"/>
            <a:r>
              <a:rPr lang="en-US" sz="3200" dirty="0"/>
              <a:t>Protect and empower all EU citizen’s data privacy</a:t>
            </a:r>
          </a:p>
          <a:p>
            <a:pPr marL="798512" lvl="1" indent="-457200"/>
            <a:r>
              <a:rPr lang="en-US" sz="3200" dirty="0"/>
              <a:t>Reshape the way organizations across the region approach data privacy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standards for Incident Handling and Legal Compliance?</a:t>
            </a:r>
          </a:p>
        </p:txBody>
      </p:sp>
    </p:spTree>
    <p:extLst>
      <p:ext uri="{BB962C8B-B14F-4D97-AF65-F5344CB8AC3E}">
        <p14:creationId xmlns:p14="http://schemas.microsoft.com/office/powerpoint/2010/main" val="255666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/>
              <a:t>Article 32: Technical and organizational measures need to provide</a:t>
            </a:r>
            <a:r>
              <a:rPr lang="en-US" sz="3400" dirty="0"/>
              <a:t>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o The ability to ensure the ongoing confidentiality, integrity, availability, and resilience of processing systems and services </a:t>
            </a:r>
          </a:p>
          <a:p>
            <a:pPr marL="0" indent="0">
              <a:buNone/>
            </a:pPr>
            <a:r>
              <a:rPr lang="en-US" sz="3400" dirty="0"/>
              <a:t>	o The ability to restore the availability and access to personal data on time in the event of a physical or technical incident </a:t>
            </a:r>
          </a:p>
          <a:p>
            <a:pPr marL="0" indent="0">
              <a:buNone/>
            </a:pPr>
            <a:r>
              <a:rPr lang="en-US" sz="3400" dirty="0"/>
              <a:t>	o A process for regularly testing, assessing, and evaluating the effectiveness of technical and organizational measures for ensuring the security of the processing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standards for Incident Handling and Legal Compliance?</a:t>
            </a:r>
          </a:p>
        </p:txBody>
      </p:sp>
    </p:spTree>
    <p:extLst>
      <p:ext uri="{BB962C8B-B14F-4D97-AF65-F5344CB8AC3E}">
        <p14:creationId xmlns:p14="http://schemas.microsoft.com/office/powerpoint/2010/main" val="99977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Article 33(1):</a:t>
            </a:r>
            <a:r>
              <a:rPr lang="en-US" sz="3400" dirty="0"/>
              <a:t> </a:t>
            </a:r>
          </a:p>
          <a:p>
            <a:pPr marL="0" indent="0">
              <a:buNone/>
            </a:pPr>
            <a:r>
              <a:rPr lang="en-US" sz="3400" dirty="0"/>
              <a:t>“In the case of a personal data breach, the controller shall without undue delay and, where feasible, </a:t>
            </a:r>
            <a:r>
              <a:rPr lang="en-US" sz="3400" b="1" dirty="0"/>
              <a:t>not later than 72 hours after having become aware of it</a:t>
            </a:r>
            <a:r>
              <a:rPr lang="en-US" sz="3400" dirty="0"/>
              <a:t> notify the personal data breach to the supervisory authority competent in accordance with Article 55, </a:t>
            </a:r>
            <a:r>
              <a:rPr lang="en-US" sz="3400" b="1" i="1" u="sng" dirty="0"/>
              <a:t>unless the personal data breach is unlikely to result in a risk to the rights and freedoms of natural persons.</a:t>
            </a:r>
            <a:r>
              <a:rPr lang="en-US" sz="3400" i="1" u="sng" dirty="0"/>
              <a:t>”</a:t>
            </a:r>
            <a:r>
              <a:rPr lang="en-US" sz="3400" dirty="0"/>
              <a:t> </a:t>
            </a:r>
          </a:p>
          <a:p>
            <a:pPr marL="0" indent="0">
              <a:buNone/>
            </a:pPr>
            <a:r>
              <a:rPr lang="en-US" sz="3400" dirty="0"/>
              <a:t>“</a:t>
            </a:r>
            <a:r>
              <a:rPr lang="en-US" sz="3400" b="1" dirty="0"/>
              <a:t>Where the notification to the supervisory authority is not made within 72 hours, it shall be accompanied by reasons for the delay.</a:t>
            </a:r>
            <a:r>
              <a:rPr lang="en-US" sz="3400" dirty="0"/>
              <a:t>”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standards for Incident Handling and Legal Compliance?</a:t>
            </a:r>
          </a:p>
        </p:txBody>
      </p:sp>
    </p:spTree>
    <p:extLst>
      <p:ext uri="{BB962C8B-B14F-4D97-AF65-F5344CB8AC3E}">
        <p14:creationId xmlns:p14="http://schemas.microsoft.com/office/powerpoint/2010/main" val="385652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CA064645-39C5-44CA-9983-6162579BF9EC}"/>
</file>

<file path=customXml/itemProps2.xml><?xml version="1.0" encoding="utf-8"?>
<ds:datastoreItem xmlns:ds="http://schemas.openxmlformats.org/officeDocument/2006/customXml" ds:itemID="{97DCF480-A405-45D3-B464-40B1EF2C93BB}"/>
</file>

<file path=customXml/itemProps3.xml><?xml version="1.0" encoding="utf-8"?>
<ds:datastoreItem xmlns:ds="http://schemas.openxmlformats.org/officeDocument/2006/customXml" ds:itemID="{550A0605-C21B-4E39-AD16-F35780467B69}"/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555</Words>
  <Application>Microsoft Office PowerPoint</Application>
  <PresentationFormat>Widescreen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role of law in Incident Handling?</vt:lpstr>
      <vt:lpstr>Are there legal and jurisdictional issues when dealing with an Incident?</vt:lpstr>
      <vt:lpstr>Are there standards for Incident Handling and Legal Compliance?</vt:lpstr>
      <vt:lpstr>Are there standards for Incident Handling and Legal Compliance?</vt:lpstr>
      <vt:lpstr>Are there standards for Incident Handling and Legal Compliance?</vt:lpstr>
      <vt:lpstr>Are there standards for Incident Handling and Legal Compliance?</vt:lpstr>
      <vt:lpstr>Are there standards for Incident Handling and Legal Compliance?</vt:lpstr>
      <vt:lpstr>Are there standards for Incident Handling and Legal Compliance?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82</cp:revision>
  <cp:lastPrinted>2020-04-29T19:12:33Z</cp:lastPrinted>
  <dcterms:created xsi:type="dcterms:W3CDTF">2020-04-24T18:08:50Z</dcterms:created>
  <dcterms:modified xsi:type="dcterms:W3CDTF">2020-08-25T17:25:52Z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