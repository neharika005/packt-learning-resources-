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880" r:id="rId2"/>
    <p:sldId id="2894" r:id="rId3"/>
    <p:sldId id="2895" r:id="rId4"/>
    <p:sldId id="2896" r:id="rId5"/>
    <p:sldId id="2897" r:id="rId6"/>
    <p:sldId id="2898" r:id="rId7"/>
    <p:sldId id="2899" r:id="rId8"/>
    <p:sldId id="2900" r:id="rId9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8/20/2020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3248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834985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83312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513044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5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167041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6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098988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7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840541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8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5444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8/20/2020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8/20/2020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8/20/2020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8/20/2020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b="1" dirty="0"/>
              <a:t>Risk</a:t>
            </a:r>
            <a:r>
              <a:rPr lang="en-US" sz="3400" dirty="0"/>
              <a:t> - The probability (likelihood) that a given threat source will exercise a particular vulnerability and the resulting impact should that occur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Threat</a:t>
            </a:r>
            <a:r>
              <a:rPr lang="en-US" sz="3400" dirty="0"/>
              <a:t> -  an event or situation that if it occurred, would prevent the organization from operating in its normal manner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Risk? – Vocabulary First…</a:t>
            </a:r>
          </a:p>
        </p:txBody>
      </p:sp>
    </p:spTree>
    <p:extLst>
      <p:ext uri="{BB962C8B-B14F-4D97-AF65-F5344CB8AC3E}">
        <p14:creationId xmlns:p14="http://schemas.microsoft.com/office/powerpoint/2010/main" val="421474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b="1" dirty="0"/>
              <a:t>Vulnerability</a:t>
            </a:r>
            <a:r>
              <a:rPr lang="en-US" sz="3400" dirty="0"/>
              <a:t> - weakness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Likelihood</a:t>
            </a:r>
            <a:r>
              <a:rPr lang="en-US" sz="3400" dirty="0"/>
              <a:t> - chance something might happen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Impact</a:t>
            </a:r>
            <a:r>
              <a:rPr lang="en-US" sz="3400" dirty="0"/>
              <a:t> - what a threat will cost (quantitative/qualitative)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Risk? – Vocabulary First…</a:t>
            </a:r>
          </a:p>
        </p:txBody>
      </p:sp>
    </p:spTree>
    <p:extLst>
      <p:ext uri="{BB962C8B-B14F-4D97-AF65-F5344CB8AC3E}">
        <p14:creationId xmlns:p14="http://schemas.microsoft.com/office/powerpoint/2010/main" val="5716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b="1" dirty="0"/>
              <a:t>Countermeasure (control)</a:t>
            </a:r>
            <a:r>
              <a:rPr lang="en-US" sz="3400" dirty="0"/>
              <a:t> - mechanism applied to minimize risk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Residual Risk</a:t>
            </a:r>
            <a:r>
              <a:rPr lang="en-US" sz="3400" dirty="0"/>
              <a:t> - remaining risk(s) after all countermeasures/controls have been applied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			NIST SP800-30R1 page 12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Risk? – Vocabulary First…</a:t>
            </a:r>
          </a:p>
        </p:txBody>
      </p:sp>
    </p:spTree>
    <p:extLst>
      <p:ext uri="{BB962C8B-B14F-4D97-AF65-F5344CB8AC3E}">
        <p14:creationId xmlns:p14="http://schemas.microsoft.com/office/powerpoint/2010/main" val="430294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b="1" dirty="0"/>
              <a:t>Risk = Threat * Vulnerability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Risk?</a:t>
            </a:r>
          </a:p>
        </p:txBody>
      </p:sp>
    </p:spTree>
    <p:extLst>
      <p:ext uri="{BB962C8B-B14F-4D97-AF65-F5344CB8AC3E}">
        <p14:creationId xmlns:p14="http://schemas.microsoft.com/office/powerpoint/2010/main" val="1066662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Policies and procedures to identify, assess, prioritize, minimize, and control risks.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NOTE: Risk management is a continuous process performed by achieving goals at every phase.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Applied across the ENTIRE organization in strategic and operational contexts.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Risk Management?</a:t>
            </a:r>
          </a:p>
        </p:txBody>
      </p:sp>
    </p:spTree>
    <p:extLst>
      <p:ext uri="{BB962C8B-B14F-4D97-AF65-F5344CB8AC3E}">
        <p14:creationId xmlns:p14="http://schemas.microsoft.com/office/powerpoint/2010/main" val="3246878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400" b="1" dirty="0"/>
              <a:t>Risk Assessment</a:t>
            </a:r>
            <a:r>
              <a:rPr lang="en-US" sz="3400" dirty="0"/>
              <a:t> - identification of risks, estimation of impact, and determining sources to recommend proper mitigation measures.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Risk Mitigation</a:t>
            </a:r>
            <a:r>
              <a:rPr lang="en-US" sz="3400" dirty="0"/>
              <a:t> - prepare for handling risks and reduce its impact on organizations.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Risk Management Plan Evaluation</a:t>
            </a:r>
            <a:r>
              <a:rPr lang="en-US" sz="3400" dirty="0"/>
              <a:t> - update the risk management plan on a regular basis as risks can change due to the change in business strategies, policies, and operations.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The Risk management process includes:</a:t>
            </a:r>
          </a:p>
        </p:txBody>
      </p:sp>
    </p:spTree>
    <p:extLst>
      <p:ext uri="{BB962C8B-B14F-4D97-AF65-F5344CB8AC3E}">
        <p14:creationId xmlns:p14="http://schemas.microsoft.com/office/powerpoint/2010/main" val="1806709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b="1" dirty="0"/>
              <a:t>System Characterization</a:t>
            </a:r>
            <a:r>
              <a:rPr lang="en-US" sz="3400" dirty="0"/>
              <a:t> - Identify all the resources and infrastructure boundaries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Threat Identification</a:t>
            </a:r>
            <a:r>
              <a:rPr lang="en-US" sz="3400" dirty="0"/>
              <a:t> - List all the possible threat sources applicable to the critical IT assets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Vulnerability Identification</a:t>
            </a:r>
            <a:r>
              <a:rPr lang="en-US" sz="3400" dirty="0"/>
              <a:t> - List all the vulnerabilities that can be maliciously exploited by threat sources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Steps involved in the risk assessment process</a:t>
            </a:r>
            <a:r>
              <a:rPr lang="en-US" dirty="0">
                <a:sym typeface="Wingdings" panose="05000000000000000000" pitchFamily="2" charset="2"/>
              </a:rPr>
              <a:t> – (first 5)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905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400" b="1" dirty="0"/>
              <a:t>Control Analysis</a:t>
            </a:r>
            <a:r>
              <a:rPr lang="en-US" sz="3400" dirty="0"/>
              <a:t> - Identify and analyze the existing controls </a:t>
            </a:r>
          </a:p>
          <a:p>
            <a:pPr marL="0" indent="0">
              <a:buNone/>
            </a:pPr>
            <a:r>
              <a:rPr lang="en-US" sz="3400" dirty="0"/>
              <a:t>	(Output includes the list of all existing and planned security controls used to eliminate the likelihood of a threat source exploiting system vulnerabilities)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Likelihood Analysis</a:t>
            </a:r>
            <a:r>
              <a:rPr lang="en-US" sz="3400" dirty="0"/>
              <a:t> - Evaluate the likelihood of attacks and consequences </a:t>
            </a:r>
          </a:p>
          <a:p>
            <a:pPr marL="0" indent="0">
              <a:buNone/>
            </a:pPr>
            <a:r>
              <a:rPr lang="en-US" sz="3400" dirty="0"/>
              <a:t>	(Output is the likelihood rating of a potential vulnerability being exploited by a threat source)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			Risk Likelihood and Consequence.xlsx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Steps involved in the risk assessment process </a:t>
            </a:r>
            <a:r>
              <a:rPr lang="en-US" dirty="0">
                <a:sym typeface="Wingdings" panose="05000000000000000000" pitchFamily="2" charset="2"/>
              </a:rPr>
              <a:t>– (first 5)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774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B820DF0E-9513-4029-8B0E-B54424D5AA82}"/>
</file>

<file path=customXml/itemProps2.xml><?xml version="1.0" encoding="utf-8"?>
<ds:datastoreItem xmlns:ds="http://schemas.openxmlformats.org/officeDocument/2006/customXml" ds:itemID="{C163F54D-6203-4E51-8BBB-48B93221DDB0}"/>
</file>

<file path=customXml/itemProps3.xml><?xml version="1.0" encoding="utf-8"?>
<ds:datastoreItem xmlns:ds="http://schemas.openxmlformats.org/officeDocument/2006/customXml" ds:itemID="{D78E17BC-6D81-4EC9-B9C5-39737E34430E}"/>
</file>

<file path=docProps/app.xml><?xml version="1.0" encoding="utf-8"?>
<Properties xmlns="http://schemas.openxmlformats.org/officeDocument/2006/extended-properties" xmlns:vt="http://schemas.openxmlformats.org/officeDocument/2006/docPropsVTypes">
  <TotalTime>2578</TotalTime>
  <Words>395</Words>
  <Application>Microsoft Office PowerPoint</Application>
  <PresentationFormat>Widescreen</PresentationFormat>
  <Paragraphs>52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What is Risk? – Vocabulary First…</vt:lpstr>
      <vt:lpstr>What is Risk? – Vocabulary First…</vt:lpstr>
      <vt:lpstr>What is Risk? – Vocabulary First…</vt:lpstr>
      <vt:lpstr>What is Risk?</vt:lpstr>
      <vt:lpstr>What is Risk Management?</vt:lpstr>
      <vt:lpstr>The Risk management process includes:</vt:lpstr>
      <vt:lpstr>Steps involved in the risk assessment process – (first 5)</vt:lpstr>
      <vt:lpstr>Steps involved in the risk assessment process – (first 5)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82</cp:revision>
  <cp:lastPrinted>2020-04-29T19:12:33Z</cp:lastPrinted>
  <dcterms:created xsi:type="dcterms:W3CDTF">2020-04-24T18:08:50Z</dcterms:created>
  <dcterms:modified xsi:type="dcterms:W3CDTF">2020-08-20T18:18:41Z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