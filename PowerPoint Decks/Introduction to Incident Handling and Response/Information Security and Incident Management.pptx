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0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880" r:id="rId2"/>
    <p:sldId id="2887" r:id="rId3"/>
    <p:sldId id="2888" r:id="rId4"/>
    <p:sldId id="2889" r:id="rId5"/>
    <p:sldId id="2890" r:id="rId6"/>
    <p:sldId id="2891" r:id="rId7"/>
    <p:sldId id="2892" r:id="rId8"/>
    <p:sldId id="2893" r:id="rId9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550400D-634F-4ECE-8B99-E301607E417A}" type="datetimeFigureOut">
              <a:rPr lang="en-US" smtClean="0"/>
              <a:t>8/14/2020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2CA5BA8-5709-4BCF-8567-BC7E030021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634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1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5832483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2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2518008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3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9608916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4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8862958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5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073185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6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0549634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7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2037911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8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0754070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FFCC102-5D77-AB4A-B015-62CEE166E515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66CB8CD-22B6-8E44-A0B2-E202A3F50FC0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91E13A89-D0B2-A346-9918-7B58BA5F80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2486" b="28721"/>
          <a:stretch/>
        </p:blipFill>
        <p:spPr>
          <a:xfrm>
            <a:off x="409554" y="221946"/>
            <a:ext cx="2688317" cy="83331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E537DE53-9F91-F144-B090-6891FC7F6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1782" y="1354512"/>
            <a:ext cx="10515600" cy="1882337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algn="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C3AB1C3-283D-F547-BE60-C0223B09E9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21782" y="3539550"/>
            <a:ext cx="10515600" cy="959999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 b="1" i="0">
                <a:solidFill>
                  <a:schemeClr val="bg1"/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10504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righ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8550376-BED7-4B46-B83A-D8C4218AB513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3B7B21E-0316-A247-8CEE-8DE76EAD7C95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1FFA49D0-3C17-1747-A936-9501950BD5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2486" b="28721"/>
          <a:stretch/>
        </p:blipFill>
        <p:spPr>
          <a:xfrm>
            <a:off x="409554" y="221946"/>
            <a:ext cx="2688317" cy="833317"/>
          </a:xfrm>
          <a:prstGeom prst="rect">
            <a:avLst/>
          </a:prstGeom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004542C0-6F92-F542-B358-53649EAA8761}"/>
              </a:ext>
            </a:extLst>
          </p:cNvPr>
          <p:cNvSpPr txBox="1">
            <a:spLocks/>
          </p:cNvSpPr>
          <p:nvPr userDrawn="1"/>
        </p:nvSpPr>
        <p:spPr>
          <a:xfrm>
            <a:off x="624051" y="5195340"/>
            <a:ext cx="10943897" cy="12533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None/>
              <a:tabLst/>
              <a:defRPr sz="2800" b="1" i="0" kern="1200">
                <a:solidFill>
                  <a:schemeClr val="tx1"/>
                </a:solidFill>
                <a:latin typeface="Proxima Nova Semibold" panose="02000506030000020004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20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8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6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6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0" i="0">
                <a:solidFill>
                  <a:schemeClr val="bg1"/>
                </a:solidFill>
                <a:latin typeface="Adelle Sans" panose="02000503000000020004" pitchFamily="2" charset="77"/>
              </a:rPr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754250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F951679-C038-3D4F-B9C6-BD4097A52467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ECF62-AF5A-6A4B-8DAF-6576CE0FE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4" y="1161288"/>
            <a:ext cx="11175123" cy="468789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 marL="6858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 marL="11430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 marL="16002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 marL="20574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8B7FA2-906C-224F-91E8-737C56BAA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CCF5606-6DC5-4A43-91BA-969B5443296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34C16D8-B479-BB46-AD7C-0AC4F5CEDC76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377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02ADA8A-EE40-8D42-B058-429F77AD6030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34CEAF-3B24-A242-A428-FB8B1A7D5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648054"/>
            <a:ext cx="10515600" cy="1882337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B81C1E-F57C-FB49-8A8C-E5F2C60D0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814406"/>
            <a:ext cx="10515600" cy="95999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 i="0">
                <a:solidFill>
                  <a:schemeClr val="bg1"/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2B0757F-692F-4442-AC10-47BE80EC63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8801" b="16721"/>
          <a:stretch/>
        </p:blipFill>
        <p:spPr>
          <a:xfrm>
            <a:off x="5496490" y="237942"/>
            <a:ext cx="1327643" cy="856044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75C7F33-8A0F-C247-8673-DF3D12BB0E56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8283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6" y="1161288"/>
            <a:ext cx="5339256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48A93EA-740D-534C-9F9A-851CAAFC6F5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27230" y="1161288"/>
            <a:ext cx="5339256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841E47F-9CBC-DD48-8C04-77F3D57C33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D2B1C16-A483-9045-B5B4-5312C63A98DF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CDC1CD-60B7-3A48-9555-D2A53A2C6D9B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F647ED5-144A-1F43-9397-C331DF9F5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69641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5" y="1161288"/>
            <a:ext cx="11022320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841E47F-9CBC-DD48-8C04-77F3D57C33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6293178-3B92-7843-ACDD-A6618DC287B8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752F457-B5E3-8F47-95DD-D367B00BA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FC8432-B0CC-124E-92A6-31C64477B9CF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541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03304" y="1161288"/>
            <a:ext cx="6763234" cy="2911642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B32B816-31A6-5D4A-A375-EC666A89A1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1699" y="1161288"/>
            <a:ext cx="3549974" cy="44374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126C43-57A2-E347-AD98-A4972DDFF0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E068130-E2E2-5E46-8F8E-5AB9C589153C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6860F66-25E7-8E47-8582-F4D74F2E4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FC791A-95B2-5E41-9A70-75AB9C875165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718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5CA925-A192-0942-8DCB-09514A1977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516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788494-3E34-F041-B8E4-A88C3ED8C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516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51CB6872-94EB-EB45-BDBF-F7D3974C9DE4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58758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DDE1C7E-4CC2-C942-8FC1-BE8CDAB37DB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3E3E685A-2A2D-6D4B-90D0-C351A9D72C70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358758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AAE57A-FE05-9C4D-864E-23C54D16BF2F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55EC85A-83D7-754F-92C5-D85306B21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895DC7-61FB-464B-A0D1-046B8C0906C9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92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1FF22C-90B2-C248-AC4E-B2382376A13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870C5A3-B0F2-B343-A1A8-822AF0AFBF3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34540" y="1530094"/>
            <a:ext cx="5501262" cy="194314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37D7183-C54B-2B4D-B36F-3DFB8F31E7F4}"/>
              </a:ext>
            </a:extLst>
          </p:cNvPr>
          <p:cNvSpPr/>
          <p:nvPr userDrawn="1"/>
        </p:nvSpPr>
        <p:spPr>
          <a:xfrm>
            <a:off x="73152" y="7315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A31B2F-9578-7B4B-A18A-143A08D25286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87395722-9303-174D-ADA2-E8CEB2DD2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516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AC5BA04E-B66F-8A48-943B-662CC1140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516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D8779A3-A4DE-484C-BE3C-DB7ADCD25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8243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85BD484-3EA0-2E4E-A60B-8C347D911C8D}"/>
              </a:ext>
            </a:extLst>
          </p:cNvPr>
          <p:cNvSpPr/>
          <p:nvPr/>
        </p:nvSpPr>
        <p:spPr>
          <a:xfrm>
            <a:off x="73152" y="73152"/>
            <a:ext cx="12037568" cy="6713728"/>
          </a:xfrm>
          <a:prstGeom prst="rect">
            <a:avLst/>
          </a:prstGeom>
          <a:solidFill>
            <a:srgbClr val="1519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noFill/>
              </a:rPr>
              <a:t>    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795B372-A8BB-B64B-AD18-74876C5FBE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4" y="1161288"/>
            <a:ext cx="10943431" cy="441003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1pPr>
            <a:lvl2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8D42F22-D84C-BA44-A88C-5F7DF96918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F1B5676D-862E-0E47-9C05-7682B86B5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22474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F04465-AABC-3A4F-8FC9-8995FEDCDC6F}"/>
              </a:ext>
            </a:extLst>
          </p:cNvPr>
          <p:cNvSpPr/>
          <p:nvPr/>
        </p:nvSpPr>
        <p:spPr>
          <a:xfrm>
            <a:off x="76200" y="76202"/>
            <a:ext cx="8839200" cy="6674095"/>
          </a:xfrm>
          <a:prstGeom prst="rect">
            <a:avLst/>
          </a:prstGeom>
          <a:solidFill>
            <a:srgbClr val="151945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1EFD6FA-B95F-4B4E-B8E9-6AA2FC82158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AE481BF-4009-2943-A1EB-41598785198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763000" y="0"/>
            <a:ext cx="3429000" cy="6858000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C2C405E-EB31-5040-A5D4-B62FD7859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5" y="1161288"/>
            <a:ext cx="7668688" cy="441003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1pPr>
            <a:lvl2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9E52FE2-18BD-AE42-8568-24AFE8F2E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7668689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322210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Bullets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FBEC28D-04BA-104A-BA4B-BC3FEFA7E2D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74771" y="1124903"/>
            <a:ext cx="4576693" cy="4576693"/>
          </a:xfrm>
          <a:prstGeom prst="rect">
            <a:avLst/>
          </a:prstGeom>
        </p:spPr>
      </p:pic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2C8D256E-5B00-D64D-A0EC-80D6BD5541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463" y="1161288"/>
            <a:ext cx="4826825" cy="3834805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7573F1-14B9-C145-93E8-D66D31701A10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40DA479-972A-AC44-8FF3-6E03BA01F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5658B93-7979-CF45-802B-A99C6576E858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3803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Lin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16A5AF1-5967-884E-BB29-5EAC91B62B4B}"/>
              </a:ext>
            </a:extLst>
          </p:cNvPr>
          <p:cNvSpPr/>
          <p:nvPr userDrawn="1"/>
        </p:nvSpPr>
        <p:spPr>
          <a:xfrm>
            <a:off x="76200" y="76201"/>
            <a:ext cx="12039600" cy="12283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E2573F-BD73-B044-8C4C-CB67550B3DF3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82F6E4A-1F7B-5B40-9689-E5E7AB0568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5" y="1463040"/>
            <a:ext cx="11022320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26AB305-7FA0-2C41-ADCF-834278ABE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788486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16A5AF1-5967-884E-BB29-5EAC91B62B4B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A705E69-3D25-EF43-9B57-0C3AC1F5F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E2573F-BD73-B044-8C4C-CB67550B3DF3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0615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lterna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F96A518-3E71-3F41-B51D-F3F8D63F1B01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1294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Bar Title with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CABD4948-F528-774E-A210-25D1BE40C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474" y="261082"/>
            <a:ext cx="10515600" cy="7983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B2080D5-BCF5-0642-B066-3A2589E22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474" y="1359698"/>
            <a:ext cx="10515600" cy="4149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D70B3E-6C46-734E-BC63-4349922825C1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059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6D46A-D5FE-DB4E-9784-A54A02D89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79968-F075-E745-9452-7E0CAAC6C2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14950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52380-0A23-D140-9B2B-5F141AB5F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827792-99C6-C343-827E-BE9EDF804372}" type="datetimeFigureOut">
              <a:rPr lang="en-US" smtClean="0"/>
              <a:t>8/14/2020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425EA-EF92-714F-B7AD-0B245EA42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27246F-5803-9542-865F-75DB94630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E3505C-93DC-5644-BB7E-5D517224F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4910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A31B4E-687D-2C4C-B95D-A513660DA4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3EFC86-AA65-C840-9828-EBFF405DC6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85563C-0652-F94A-A10D-3A82E9DDB9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827792-99C6-C343-827E-BE9EDF804372}" type="datetimeFigureOut">
              <a:rPr lang="en-US" smtClean="0"/>
              <a:t>8/14/2020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0E9DA-0CA4-8A46-9B6A-E0873DE65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926DA-2D9C-9848-8B94-21D740CEC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E3505C-93DC-5644-BB7E-5D517224F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0889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C5976-D2A9-0E40-B643-553E9C12721E}" type="datetimeFigureOut">
              <a:rPr lang="en-US" smtClean="0"/>
              <a:t>8/14/2020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34D80-FED8-0347-99C2-A970D5E76F80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185057" y="4581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 i="0">
                <a:solidFill>
                  <a:schemeClr val="accent1"/>
                </a:solidFill>
                <a:latin typeface="Proxima Nova Semibold" panose="02000506030000020004" pitchFamily="50" charset="0"/>
                <a:ea typeface="Proxima Nova Semibold" panose="02000506030000020004" pitchFamily="50" charset="0"/>
                <a:cs typeface="Proxima Nova Semibold" panose="02000506030000020004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 flipH="1">
            <a:off x="1" y="1253823"/>
            <a:ext cx="5900056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43B3D3-40A8-3046-B6AB-B81608DE9A5C}"/>
              </a:ext>
            </a:extLst>
          </p:cNvPr>
          <p:cNvCxnSpPr/>
          <p:nvPr userDrawn="1"/>
        </p:nvCxnSpPr>
        <p:spPr>
          <a:xfrm>
            <a:off x="3466640" y="6632154"/>
            <a:ext cx="8725360" cy="0"/>
          </a:xfrm>
          <a:prstGeom prst="line">
            <a:avLst/>
          </a:prstGeom>
          <a:ln w="25400">
            <a:solidFill>
              <a:srgbClr val="FF67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0D94AF16-4C7A-0B4E-9E9B-4552F153A22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9535" y="5350042"/>
            <a:ext cx="1515544" cy="150795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2F31C6A-B9BE-7B40-BC2A-95807FB6F92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040" y="6211178"/>
            <a:ext cx="2013203" cy="619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0874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C5976-D2A9-0E40-B643-553E9C12721E}" type="datetimeFigureOut">
              <a:rPr lang="en-US" smtClean="0"/>
              <a:t>8/14/2020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34D80-FED8-0347-99C2-A970D5E76F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712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FF93D5-62F0-5145-AB64-7AC90B60F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1F652F-5C50-294A-A9ED-638E2DAF4A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149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3796E1-F957-0F48-8AD0-8F8E3D0E59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567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tx1"/>
          </a:solidFill>
          <a:latin typeface="Proxima Nova" panose="02000506030000020004" pitchFamily="2" charset="0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90000"/>
        </a:lnSpc>
        <a:spcBef>
          <a:spcPts val="1000"/>
        </a:spcBef>
        <a:buFont typeface="Courier New" panose="02070309020205020404" pitchFamily="49" charset="0"/>
        <a:buChar char="o"/>
        <a:tabLst/>
        <a:defRPr sz="20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1pPr>
      <a:lvl2pPr marL="750888" indent="-293688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8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2pPr>
      <a:lvl3pPr marL="1208088" indent="-293688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6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3pPr>
      <a:lvl4pPr marL="1604963" indent="-233363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4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4pPr>
      <a:lvl5pPr marL="2062163" indent="-233363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2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624">
          <p15:clr>
            <a:srgbClr val="F26B43"/>
          </p15:clr>
        </p15:guide>
        <p15:guide id="2" orient="horz" pos="283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Five major elements: </a:t>
            </a:r>
          </a:p>
          <a:p>
            <a:r>
              <a:rPr lang="en-US" sz="3600" dirty="0"/>
              <a:t>Confidentiality - C</a:t>
            </a:r>
          </a:p>
          <a:p>
            <a:r>
              <a:rPr lang="en-US" sz="3600" dirty="0"/>
              <a:t>Integrity - I</a:t>
            </a:r>
          </a:p>
          <a:p>
            <a:r>
              <a:rPr lang="en-US" sz="3600"/>
              <a:t>Availability - A</a:t>
            </a:r>
            <a:endParaRPr lang="en-US" sz="3600" dirty="0"/>
          </a:p>
          <a:p>
            <a:r>
              <a:rPr lang="en-US" sz="3600" dirty="0"/>
              <a:t>Authenticity</a:t>
            </a:r>
          </a:p>
          <a:p>
            <a:r>
              <a:rPr lang="en-US" sz="3600" dirty="0"/>
              <a:t>Non-repudiation</a:t>
            </a:r>
            <a:endParaRPr lang="en-US" sz="3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Information Security Concepts</a:t>
            </a:r>
          </a:p>
        </p:txBody>
      </p:sp>
    </p:spTree>
    <p:extLst>
      <p:ext uri="{BB962C8B-B14F-4D97-AF65-F5344CB8AC3E}">
        <p14:creationId xmlns:p14="http://schemas.microsoft.com/office/powerpoint/2010/main" val="4214747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r>
              <a:rPr lang="en-US" sz="3600" dirty="0"/>
              <a:t>Information as a business asset</a:t>
            </a:r>
          </a:p>
          <a:p>
            <a:r>
              <a:rPr lang="en-US" sz="3600" dirty="0"/>
              <a:t>Defense in depth</a:t>
            </a:r>
          </a:p>
          <a:p>
            <a:r>
              <a:rPr lang="en-US" sz="3600" dirty="0"/>
              <a:t>Information Security Policies:</a:t>
            </a:r>
          </a:p>
          <a:p>
            <a:pPr lvl="1"/>
            <a:r>
              <a:rPr lang="en-US" sz="3400" dirty="0"/>
              <a:t> Technical - configuration</a:t>
            </a:r>
          </a:p>
          <a:p>
            <a:pPr lvl="1"/>
            <a:r>
              <a:rPr lang="en-US" sz="3400" dirty="0"/>
              <a:t> Administrative - behavior</a:t>
            </a:r>
            <a:endParaRPr lang="en-US" sz="32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Information Security Concepts</a:t>
            </a:r>
          </a:p>
        </p:txBody>
      </p:sp>
    </p:spTree>
    <p:extLst>
      <p:ext uri="{BB962C8B-B14F-4D97-AF65-F5344CB8AC3E}">
        <p14:creationId xmlns:p14="http://schemas.microsoft.com/office/powerpoint/2010/main" val="7663104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r>
              <a:rPr lang="en-US" sz="3600" dirty="0"/>
              <a:t>Information Security Policies: The 4 P’s</a:t>
            </a:r>
          </a:p>
          <a:p>
            <a:pPr lvl="1"/>
            <a:r>
              <a:rPr lang="en-US" sz="3400" dirty="0"/>
              <a:t> Promiscuous</a:t>
            </a:r>
          </a:p>
          <a:p>
            <a:pPr lvl="1"/>
            <a:r>
              <a:rPr lang="en-US" sz="3400" dirty="0"/>
              <a:t> Permissive</a:t>
            </a:r>
          </a:p>
          <a:p>
            <a:pPr lvl="1"/>
            <a:r>
              <a:rPr lang="en-US" sz="3400" dirty="0"/>
              <a:t> Prudent</a:t>
            </a:r>
          </a:p>
          <a:p>
            <a:pPr lvl="1"/>
            <a:r>
              <a:rPr lang="en-US" sz="3200" dirty="0"/>
              <a:t> </a:t>
            </a:r>
            <a:r>
              <a:rPr lang="en-US" sz="3400" dirty="0"/>
              <a:t>Paranoid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Information Security Concepts</a:t>
            </a:r>
          </a:p>
        </p:txBody>
      </p:sp>
    </p:spTree>
    <p:extLst>
      <p:ext uri="{BB962C8B-B14F-4D97-AF65-F5344CB8AC3E}">
        <p14:creationId xmlns:p14="http://schemas.microsoft.com/office/powerpoint/2010/main" val="34667496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What makes an attack?</a:t>
            </a:r>
          </a:p>
          <a:p>
            <a:endParaRPr lang="en-US" sz="3600" dirty="0"/>
          </a:p>
          <a:p>
            <a:pPr marL="0" indent="0">
              <a:buNone/>
            </a:pPr>
            <a:r>
              <a:rPr lang="en-US" sz="3600" dirty="0"/>
              <a:t>Attacks = Motive (Goal) + Method + Vulnerability</a:t>
            </a:r>
            <a:endParaRPr lang="en-US" sz="32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Threats and Attack Vectors</a:t>
            </a:r>
          </a:p>
        </p:txBody>
      </p:sp>
    </p:spTree>
    <p:extLst>
      <p:ext uri="{BB962C8B-B14F-4D97-AF65-F5344CB8AC3E}">
        <p14:creationId xmlns:p14="http://schemas.microsoft.com/office/powerpoint/2010/main" val="1754168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3600" dirty="0"/>
              <a:t>What are some attack vectors?</a:t>
            </a:r>
          </a:p>
          <a:p>
            <a:pPr marL="0" indent="0">
              <a:buNone/>
            </a:pPr>
            <a:endParaRPr lang="en-US" sz="3600" dirty="0"/>
          </a:p>
          <a:p>
            <a:r>
              <a:rPr lang="en-US" sz="3600" dirty="0"/>
              <a:t>Cloud computing</a:t>
            </a:r>
          </a:p>
          <a:p>
            <a:r>
              <a:rPr lang="en-US" sz="3600" dirty="0"/>
              <a:t>Advanced Persistent Threats (APTs)</a:t>
            </a:r>
          </a:p>
          <a:p>
            <a:r>
              <a:rPr lang="en-US" sz="3600" dirty="0"/>
              <a:t>Viruses &amp; Worms</a:t>
            </a:r>
          </a:p>
          <a:p>
            <a:r>
              <a:rPr lang="en-US" sz="3600" dirty="0"/>
              <a:t>Ransomware</a:t>
            </a:r>
          </a:p>
          <a:p>
            <a:r>
              <a:rPr lang="en-US" sz="3600" dirty="0"/>
              <a:t>Insider Attacks</a:t>
            </a:r>
          </a:p>
          <a:p>
            <a:r>
              <a:rPr lang="en-US" sz="3600" dirty="0"/>
              <a:t>Web Applications</a:t>
            </a:r>
          </a:p>
          <a:p>
            <a:r>
              <a:rPr lang="en-US" sz="3600" dirty="0"/>
              <a:t>IoT</a:t>
            </a:r>
            <a:endParaRPr lang="en-US" sz="32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Threats and Attack Vectors</a:t>
            </a:r>
          </a:p>
        </p:txBody>
      </p:sp>
    </p:spTree>
    <p:extLst>
      <p:ext uri="{BB962C8B-B14F-4D97-AF65-F5344CB8AC3E}">
        <p14:creationId xmlns:p14="http://schemas.microsoft.com/office/powerpoint/2010/main" val="8100444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Threats - “[t]he potential for a person or thing to exercise (accidentally trigger or intentionally exploit) a specific vulnerability.”</a:t>
            </a:r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r>
              <a:rPr lang="en-US" sz="3600" dirty="0"/>
              <a:t>Threat actors - bad actors that exploit threats to cause harm.</a:t>
            </a:r>
            <a:endParaRPr lang="en-US" sz="32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Threats and Attack Vectors</a:t>
            </a:r>
          </a:p>
        </p:txBody>
      </p:sp>
    </p:spTree>
    <p:extLst>
      <p:ext uri="{BB962C8B-B14F-4D97-AF65-F5344CB8AC3E}">
        <p14:creationId xmlns:p14="http://schemas.microsoft.com/office/powerpoint/2010/main" val="10190198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What is the impact of information security attacks?</a:t>
            </a:r>
          </a:p>
          <a:p>
            <a:pPr marL="0" indent="0">
              <a:buNone/>
            </a:pPr>
            <a:endParaRPr lang="en-US" sz="3600" dirty="0"/>
          </a:p>
          <a:p>
            <a:r>
              <a:rPr lang="en-US" sz="3600" dirty="0"/>
              <a:t>Financial Losses</a:t>
            </a:r>
          </a:p>
          <a:p>
            <a:r>
              <a:rPr lang="en-US" sz="3600" dirty="0"/>
              <a:t>Loss of C I A</a:t>
            </a:r>
          </a:p>
          <a:p>
            <a:r>
              <a:rPr lang="en-US" sz="3600" dirty="0"/>
              <a:t>Reputational Damage</a:t>
            </a:r>
          </a:p>
          <a:p>
            <a:r>
              <a:rPr lang="en-US" sz="3600" dirty="0"/>
              <a:t>Legal and Regulatory concerns</a:t>
            </a:r>
            <a:endParaRPr lang="en-US" sz="32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Threats and Attack Vectors</a:t>
            </a:r>
          </a:p>
        </p:txBody>
      </p:sp>
    </p:spTree>
    <p:extLst>
      <p:ext uri="{BB962C8B-B14F-4D97-AF65-F5344CB8AC3E}">
        <p14:creationId xmlns:p14="http://schemas.microsoft.com/office/powerpoint/2010/main" val="11973751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Events that have negative outcomes or consequences in relation to C I A for one or more assets within the enterprise.</a:t>
            </a:r>
          </a:p>
          <a:p>
            <a:pPr marL="0" indent="0">
              <a:buNone/>
            </a:pPr>
            <a:endParaRPr lang="en-US" sz="3600" dirty="0"/>
          </a:p>
          <a:p>
            <a:r>
              <a:rPr lang="en-US" sz="3600" dirty="0"/>
              <a:t>Unauthorized Access</a:t>
            </a:r>
          </a:p>
          <a:p>
            <a:r>
              <a:rPr lang="en-US" sz="3600" dirty="0"/>
              <a:t>Insider Threat</a:t>
            </a:r>
          </a:p>
          <a:p>
            <a:r>
              <a:rPr lang="en-US" sz="3600" dirty="0"/>
              <a:t>Unauthorized usage of services</a:t>
            </a:r>
            <a:endParaRPr lang="en-US" sz="32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Information Security Incidents</a:t>
            </a:r>
          </a:p>
        </p:txBody>
      </p:sp>
    </p:spTree>
    <p:extLst>
      <p:ext uri="{BB962C8B-B14F-4D97-AF65-F5344CB8AC3E}">
        <p14:creationId xmlns:p14="http://schemas.microsoft.com/office/powerpoint/2010/main" val="3060625817"/>
      </p:ext>
    </p:extLst>
  </p:cSld>
  <p:clrMapOvr>
    <a:masterClrMapping/>
  </p:clrMapOvr>
</p:sld>
</file>

<file path=ppt/theme/theme1.xml><?xml version="1.0" encoding="utf-8"?>
<a:theme xmlns:a="http://schemas.openxmlformats.org/drawingml/2006/main" name="2019 Presentation Dark Theme">
  <a:themeElements>
    <a:clrScheme name="6cc241">
      <a:dk1>
        <a:srgbClr val="151945"/>
      </a:dk1>
      <a:lt1>
        <a:srgbClr val="FFFFFF"/>
      </a:lt1>
      <a:dk2>
        <a:srgbClr val="151746"/>
      </a:dk2>
      <a:lt2>
        <a:srgbClr val="FFFFFF"/>
      </a:lt2>
      <a:accent1>
        <a:srgbClr val="F9F9FA"/>
      </a:accent1>
      <a:accent2>
        <a:srgbClr val="FF671F"/>
      </a:accent2>
      <a:accent3>
        <a:srgbClr val="00A3E0"/>
      </a:accent3>
      <a:accent4>
        <a:srgbClr val="10069F"/>
      </a:accent4>
      <a:accent5>
        <a:srgbClr val="6CC249"/>
      </a:accent5>
      <a:accent6>
        <a:srgbClr val="9C9BA7"/>
      </a:accent6>
      <a:hlink>
        <a:srgbClr val="FF671F"/>
      </a:hlink>
      <a:folHlink>
        <a:srgbClr val="FF671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OW_ONLY" id="{65C80431-16F2-514A-97BA-71A18EFAAF0C}" vid="{8E954B59-A4E7-B141-A2A5-05D60EBF4B6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C1F4BBF0267C540AB0714A5A9B8B2A0" ma:contentTypeVersion="13" ma:contentTypeDescription="Create a new document." ma:contentTypeScope="" ma:versionID="6b71af909276ca060a08b3157d1d9f21">
  <xsd:schema xmlns:xsd="http://www.w3.org/2001/XMLSchema" xmlns:xs="http://www.w3.org/2001/XMLSchema" xmlns:p="http://schemas.microsoft.com/office/2006/metadata/properties" xmlns:ns2="25f43890-8f97-4037-b6ca-5734ee50196d" xmlns:ns3="7de64167-ec1d-41c3-9c60-bdac5dd5df14" targetNamespace="http://schemas.microsoft.com/office/2006/metadata/properties" ma:root="true" ma:fieldsID="607d6bf6d8f5d26c8c8fd76553af5be9" ns2:_="" ns3:_="">
    <xsd:import namespace="25f43890-8f97-4037-b6ca-5734ee50196d"/>
    <xsd:import namespace="7de64167-ec1d-41c3-9c60-bdac5dd5df14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_Flow_SignoffStatu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f43890-8f97-4037-b6ca-5734ee50196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e64167-ec1d-41c3-9c60-bdac5dd5df1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_Flow_SignoffStatus" ma:index="16" nillable="true" ma:displayName="Sign-off status" ma:internalName="Sign_x002d_off_x0020_status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7de64167-ec1d-41c3-9c60-bdac5dd5df14" xsi:nil="true"/>
  </documentManagement>
</p:properties>
</file>

<file path=customXml/itemProps1.xml><?xml version="1.0" encoding="utf-8"?>
<ds:datastoreItem xmlns:ds="http://schemas.openxmlformats.org/officeDocument/2006/customXml" ds:itemID="{B0BED619-B87D-4112-9134-883E909146EA}"/>
</file>

<file path=customXml/itemProps2.xml><?xml version="1.0" encoding="utf-8"?>
<ds:datastoreItem xmlns:ds="http://schemas.openxmlformats.org/officeDocument/2006/customXml" ds:itemID="{9783BEF8-C70D-49E9-856F-01CD0A864486}"/>
</file>

<file path=customXml/itemProps3.xml><?xml version="1.0" encoding="utf-8"?>
<ds:datastoreItem xmlns:ds="http://schemas.openxmlformats.org/officeDocument/2006/customXml" ds:itemID="{A906F6B9-9FF5-4BA1-9E2C-0AB94AAD0755}"/>
</file>

<file path=docProps/app.xml><?xml version="1.0" encoding="utf-8"?>
<Properties xmlns="http://schemas.openxmlformats.org/officeDocument/2006/extended-properties" xmlns:vt="http://schemas.openxmlformats.org/officeDocument/2006/docPropsVTypes">
  <TotalTime>2320</TotalTime>
  <Words>213</Words>
  <Application>Microsoft Office PowerPoint</Application>
  <PresentationFormat>Widescreen</PresentationFormat>
  <Paragraphs>58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Adelle Sans</vt:lpstr>
      <vt:lpstr>Arial</vt:lpstr>
      <vt:lpstr>Calibri</vt:lpstr>
      <vt:lpstr>Courier New</vt:lpstr>
      <vt:lpstr>Proxima Nova</vt:lpstr>
      <vt:lpstr>Proxima Nova Semibold</vt:lpstr>
      <vt:lpstr>2019 Presentation Dark Theme</vt:lpstr>
      <vt:lpstr>Information Security Concepts</vt:lpstr>
      <vt:lpstr>Information Security Concepts</vt:lpstr>
      <vt:lpstr>Information Security Concepts</vt:lpstr>
      <vt:lpstr>Threats and Attack Vectors</vt:lpstr>
      <vt:lpstr>Threats and Attack Vectors</vt:lpstr>
      <vt:lpstr>Threats and Attack Vectors</vt:lpstr>
      <vt:lpstr>Threats and Attack Vectors</vt:lpstr>
      <vt:lpstr>Information Security Incidents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Manage identity and access (20-25%)</dc:title>
  <dc:creator>Adam Gordon</dc:creator>
  <cp:lastModifiedBy>Adam Gordon</cp:lastModifiedBy>
  <cp:revision>58</cp:revision>
  <cp:lastPrinted>2020-04-29T19:12:33Z</cp:lastPrinted>
  <dcterms:created xsi:type="dcterms:W3CDTF">2020-04-24T18:08:50Z</dcterms:created>
  <dcterms:modified xsi:type="dcterms:W3CDTF">2020-08-14T18:55:55Z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0x0101006C1F4BBF0267C540AB0714A5A9B8B2A0</vt:lpwstr>
  </property>
</Properties>
</file>