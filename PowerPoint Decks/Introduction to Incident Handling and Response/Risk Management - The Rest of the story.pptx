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901" r:id="rId2"/>
    <p:sldId id="2902" r:id="rId3"/>
    <p:sldId id="2903" r:id="rId4"/>
    <p:sldId id="2905" r:id="rId5"/>
    <p:sldId id="2906" r:id="rId6"/>
    <p:sldId id="2907" r:id="rId7"/>
    <p:sldId id="2908" r:id="rId8"/>
    <p:sldId id="2909" r:id="rId9"/>
    <p:sldId id="2910" r:id="rId10"/>
    <p:sldId id="2911" r:id="rId11"/>
    <p:sldId id="2912" r:id="rId12"/>
    <p:sldId id="2913" r:id="rId13"/>
    <p:sldId id="2914" r:id="rId14"/>
    <p:sldId id="2915" r:id="rId15"/>
    <p:sldId id="2916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686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9348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38841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10491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63052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8473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91037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60223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65762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10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7745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07107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33965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93873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32310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28692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Impact Analysis</a:t>
            </a:r>
            <a:r>
              <a:rPr lang="en-US" sz="3400" dirty="0"/>
              <a:t> - Analyze the financial and operational impact of a threat to the business (Qualitative vs Quantitative)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Annualized Loss Expectancy (ALE) = Single Loss Expectancy (SLE) * Annual Rate Occurrence (ARO)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– (last 4)</a:t>
            </a:r>
          </a:p>
        </p:txBody>
      </p:sp>
    </p:spTree>
    <p:extLst>
      <p:ext uri="{BB962C8B-B14F-4D97-AF65-F5344CB8AC3E}">
        <p14:creationId xmlns:p14="http://schemas.microsoft.com/office/powerpoint/2010/main" val="31507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Risk Determination</a:t>
            </a:r>
            <a:r>
              <a:rPr lang="en-US" sz="3400" dirty="0"/>
              <a:t> - Determine the risk based on likelihood, impact, and capability of security controls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Incident responders can represent and calculate the risk levels using the following formula: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 Level of risk = consequence × likelihood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– (last 4)</a:t>
            </a:r>
          </a:p>
        </p:txBody>
      </p:sp>
    </p:spTree>
    <p:extLst>
      <p:ext uri="{BB962C8B-B14F-4D97-AF65-F5344CB8AC3E}">
        <p14:creationId xmlns:p14="http://schemas.microsoft.com/office/powerpoint/2010/main" val="12829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There are five risk levels: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1. Insignificant</a:t>
            </a:r>
          </a:p>
          <a:p>
            <a:pPr marL="0" indent="0">
              <a:buNone/>
            </a:pPr>
            <a:r>
              <a:rPr lang="en-US" sz="3400" dirty="0"/>
              <a:t>	2. Minor</a:t>
            </a:r>
          </a:p>
          <a:p>
            <a:pPr marL="0" indent="0">
              <a:buNone/>
            </a:pPr>
            <a:r>
              <a:rPr lang="en-US" sz="3400" dirty="0"/>
              <a:t>	3. Moderate</a:t>
            </a:r>
          </a:p>
          <a:p>
            <a:pPr marL="0" indent="0">
              <a:buNone/>
            </a:pPr>
            <a:r>
              <a:rPr lang="en-US" sz="3400" dirty="0"/>
              <a:t>	4. Major</a:t>
            </a:r>
          </a:p>
          <a:p>
            <a:pPr marL="0" indent="0">
              <a:buNone/>
            </a:pPr>
            <a:r>
              <a:rPr lang="en-US" sz="3400" dirty="0"/>
              <a:t>	5. Severe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– (last 4)</a:t>
            </a:r>
          </a:p>
        </p:txBody>
      </p:sp>
    </p:spTree>
    <p:extLst>
      <p:ext uri="{BB962C8B-B14F-4D97-AF65-F5344CB8AC3E}">
        <p14:creationId xmlns:p14="http://schemas.microsoft.com/office/powerpoint/2010/main" val="371875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How do we "TREAT" Risk? -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Accept</a:t>
            </a:r>
          </a:p>
          <a:p>
            <a:pPr marL="0" indent="0">
              <a:buNone/>
            </a:pPr>
            <a:r>
              <a:rPr lang="en-US" sz="3400" dirty="0"/>
              <a:t>	Avoid</a:t>
            </a:r>
          </a:p>
          <a:p>
            <a:pPr marL="0" indent="0">
              <a:buNone/>
            </a:pPr>
            <a:r>
              <a:rPr lang="en-US" sz="3400" dirty="0"/>
              <a:t>	Transfer</a:t>
            </a:r>
          </a:p>
          <a:p>
            <a:pPr marL="0" indent="0">
              <a:buNone/>
            </a:pPr>
            <a:r>
              <a:rPr lang="en-US" sz="3400" dirty="0"/>
              <a:t>	Mitigate (Minimize)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– (last 4)</a:t>
            </a:r>
          </a:p>
        </p:txBody>
      </p:sp>
    </p:spTree>
    <p:extLst>
      <p:ext uri="{BB962C8B-B14F-4D97-AF65-F5344CB8AC3E}">
        <p14:creationId xmlns:p14="http://schemas.microsoft.com/office/powerpoint/2010/main" val="427818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Control Recommendation</a:t>
            </a:r>
            <a:r>
              <a:rPr lang="en-US" sz="3400" dirty="0"/>
              <a:t> - Recommend controls based on the likelihood, impact, and criticality of risk to/for business operations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– (last 4)</a:t>
            </a:r>
          </a:p>
        </p:txBody>
      </p:sp>
    </p:spTree>
    <p:extLst>
      <p:ext uri="{BB962C8B-B14F-4D97-AF65-F5344CB8AC3E}">
        <p14:creationId xmlns:p14="http://schemas.microsoft.com/office/powerpoint/2010/main" val="264111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dirty="0"/>
              <a:t>The 7 main types of control are: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Directive</a:t>
            </a:r>
            <a:r>
              <a:rPr lang="en-US" sz="3400" dirty="0"/>
              <a:t>: attempt to specify action(s) to ensure compliance with security policy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Deterrent</a:t>
            </a:r>
            <a:r>
              <a:rPr lang="en-US" sz="3400" dirty="0"/>
              <a:t>: attempt to discourage security policy violations. </a:t>
            </a:r>
          </a:p>
          <a:p>
            <a:pPr marL="0" indent="0">
              <a:buNone/>
            </a:pPr>
            <a:r>
              <a:rPr lang="en-US" sz="3400" dirty="0"/>
              <a:t>	(Key difference between Preventative and Deterrent is that preventative blocks action while deterrent relies on individual making the right choice) 	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Preventive</a:t>
            </a:r>
            <a:r>
              <a:rPr lang="en-US" sz="3400" dirty="0"/>
              <a:t>: attempt to stop unwanted access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– (last 4)</a:t>
            </a:r>
          </a:p>
        </p:txBody>
      </p:sp>
    </p:spTree>
    <p:extLst>
      <p:ext uri="{BB962C8B-B14F-4D97-AF65-F5344CB8AC3E}">
        <p14:creationId xmlns:p14="http://schemas.microsoft.com/office/powerpoint/2010/main" val="302559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/>
              <a:t>Compensating</a:t>
            </a:r>
            <a:r>
              <a:rPr lang="en-US" sz="3400" dirty="0"/>
              <a:t>: attempt to provide an alternate control in absence of primary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Detective</a:t>
            </a:r>
            <a:r>
              <a:rPr lang="en-US" sz="3400" dirty="0"/>
              <a:t>: attempt to identify unauthorized access AFTER occurrence of unauthorized activity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Corrective</a:t>
            </a:r>
            <a:r>
              <a:rPr lang="en-US" sz="3400" dirty="0"/>
              <a:t>: modifies environment to return to normal operation AFTER occurrence of unauthorized activity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Recovery</a:t>
            </a:r>
            <a:r>
              <a:rPr lang="en-US" sz="3400" dirty="0"/>
              <a:t>: attempt to repair or restore after a security violation - extension of corrective controls, but have more advanced capabilities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– (last 4)</a:t>
            </a:r>
          </a:p>
        </p:txBody>
      </p:sp>
    </p:spTree>
    <p:extLst>
      <p:ext uri="{BB962C8B-B14F-4D97-AF65-F5344CB8AC3E}">
        <p14:creationId xmlns:p14="http://schemas.microsoft.com/office/powerpoint/2010/main" val="196579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Risks Assessment Report</a:t>
            </a:r>
            <a:r>
              <a:rPr lang="en-US" sz="3400" dirty="0"/>
              <a:t> - Present the results of the risk assessment formally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the risk assessment process – (last 4)</a:t>
            </a:r>
          </a:p>
        </p:txBody>
      </p:sp>
    </p:spTree>
    <p:extLst>
      <p:ext uri="{BB962C8B-B14F-4D97-AF65-F5344CB8AC3E}">
        <p14:creationId xmlns:p14="http://schemas.microsoft.com/office/powerpoint/2010/main" val="397308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A structured and continuous process that integrates information security and risk management activities into the system development life cycle (SDLC).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It follows a security life cycle, which involves six stages.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397946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Categorization of the Information System</a:t>
            </a:r>
            <a:r>
              <a:rPr lang="en-US" sz="3400" dirty="0"/>
              <a:t> - defining criticality or sensitivity of the information system according to the potential worst-case scenario.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This shows the adverse impact to the mission or the business.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108226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Selection of the Security Controls</a:t>
            </a:r>
            <a:r>
              <a:rPr lang="en-US" sz="3400" dirty="0"/>
              <a:t> - select the baseline security controls under a NIST risk management framework.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Apply tailored guidance and supplemental controls (if needed) based on risk assessment.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297881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Implement the Security Controls</a:t>
            </a:r>
            <a:r>
              <a:rPr lang="en-US" sz="3400" dirty="0"/>
              <a:t> - within the enterprise architecture using sound system-engineering practices.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Apply security configuration settings.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119172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Assess the Security Controls</a:t>
            </a:r>
            <a:r>
              <a:rPr lang="en-US" sz="3400" dirty="0"/>
              <a:t> - Determine security control effectiveness by ensuring correct and effective implementation of the controls as per required operation and compliance with security requirements for the information system.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2008344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Authorize the Information System</a:t>
            </a:r>
            <a:r>
              <a:rPr lang="en-US" sz="3400" dirty="0"/>
              <a:t> - Determine risk to organizational operations and assets, individuals, other organizations, and the nation; if acceptable, authorize the operation.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352496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Monitor Security State</a:t>
            </a:r>
            <a:r>
              <a:rPr lang="en-US" sz="3400" dirty="0"/>
              <a:t> - Continuously track changes to the information system that may affect security controls, and reassess control effectiveness.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NIST Risk Management Framework (RMF)?</a:t>
            </a:r>
          </a:p>
        </p:txBody>
      </p:sp>
    </p:spTree>
    <p:extLst>
      <p:ext uri="{BB962C8B-B14F-4D97-AF65-F5344CB8AC3E}">
        <p14:creationId xmlns:p14="http://schemas.microsoft.com/office/powerpoint/2010/main" val="7597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0023A6A8-063B-44BF-8233-078DE164BC4D}"/>
</file>

<file path=customXml/itemProps2.xml><?xml version="1.0" encoding="utf-8"?>
<ds:datastoreItem xmlns:ds="http://schemas.openxmlformats.org/officeDocument/2006/customXml" ds:itemID="{01EC7D96-6A00-49ED-8523-410BDCCA7407}"/>
</file>

<file path=customXml/itemProps3.xml><?xml version="1.0" encoding="utf-8"?>
<ds:datastoreItem xmlns:ds="http://schemas.openxmlformats.org/officeDocument/2006/customXml" ds:itemID="{3B92659D-9614-4D77-9855-B1689E16F5BA}"/>
</file>

<file path=docProps/app.xml><?xml version="1.0" encoding="utf-8"?>
<Properties xmlns="http://schemas.openxmlformats.org/officeDocument/2006/extended-properties" xmlns:vt="http://schemas.openxmlformats.org/officeDocument/2006/docPropsVTypes">
  <TotalTime>2578</TotalTime>
  <Words>665</Words>
  <Application>Microsoft Office PowerPoint</Application>
  <PresentationFormat>Widescreen</PresentationFormat>
  <Paragraphs>83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Steps involved in the risk assessment process – (last 4)</vt:lpstr>
      <vt:lpstr>Steps involved in the risk assessment process – (last 4)</vt:lpstr>
      <vt:lpstr>Steps involved in the risk assessment process – (last 4)</vt:lpstr>
      <vt:lpstr>Steps involved in the risk assessment process – (last 4)</vt:lpstr>
      <vt:lpstr>Steps involved in the risk assessment process – (last 4)</vt:lpstr>
      <vt:lpstr>Steps involved in the risk assessment process – (last 4)</vt:lpstr>
      <vt:lpstr>Steps involved in the risk assessment process – (last 4)</vt:lpstr>
      <vt:lpstr>Steps involved in the risk assessment process – (last 4)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  <vt:lpstr>What is the NIST Risk Management Framework (RMF)?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82</cp:revision>
  <cp:lastPrinted>2020-04-29T19:12:33Z</cp:lastPrinted>
  <dcterms:created xsi:type="dcterms:W3CDTF">2020-04-24T18:08:50Z</dcterms:created>
  <dcterms:modified xsi:type="dcterms:W3CDTF">2020-08-20T17:31:09Z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