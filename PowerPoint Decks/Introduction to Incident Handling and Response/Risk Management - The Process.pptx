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897" r:id="rId2"/>
    <p:sldId id="2898" r:id="rId3"/>
    <p:sldId id="2899" r:id="rId4"/>
    <p:sldId id="2900" r:id="rId5"/>
    <p:sldId id="2901" r:id="rId6"/>
    <p:sldId id="2918" r:id="rId7"/>
    <p:sldId id="2902" r:id="rId8"/>
    <p:sldId id="2903" r:id="rId9"/>
    <p:sldId id="2905" r:id="rId10"/>
    <p:sldId id="2906" r:id="rId11"/>
    <p:sldId id="2907" r:id="rId12"/>
    <p:sldId id="2908" r:id="rId13"/>
    <p:sldId id="2917" r:id="rId14"/>
    <p:sldId id="2909" r:id="rId1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8/21/2020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E1908C-B156-4A85-BA85-F48C61D5A02D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67041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E1908C-B156-4A85-BA85-F48C61D5A02D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9898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E1908C-B156-4A85-BA85-F48C61D5A02D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40541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E1908C-B156-4A85-BA85-F48C61D5A02D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444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5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68653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6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387629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7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393480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8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388414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9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10491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10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630521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184738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910373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723264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60223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8/21/2020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8/21/2020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8/21/2020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8/21/2020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Policies and procedures to identify, assess, prioritize, minimize, and control risks.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NOTE: Risk management is a continuous process performed by achieving goals at every phase.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Applied across the ENTIRE organization in strategic and operational contexts.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Risk Management?</a:t>
            </a:r>
          </a:p>
        </p:txBody>
      </p:sp>
    </p:spTree>
    <p:extLst>
      <p:ext uri="{BB962C8B-B14F-4D97-AF65-F5344CB8AC3E}">
        <p14:creationId xmlns:p14="http://schemas.microsoft.com/office/powerpoint/2010/main" val="3246878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400" b="1" dirty="0"/>
              <a:t>Risk Assessment</a:t>
            </a:r>
            <a:r>
              <a:rPr lang="en-US" sz="3400" dirty="0"/>
              <a:t> - identification of risks, estimation of impact, and determining sources to recommend proper mitigation measures.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Risk Mitigation</a:t>
            </a:r>
            <a:r>
              <a:rPr lang="en-US" sz="3400" dirty="0"/>
              <a:t> - prepare for handling risks and reduce its impact on organizations.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Risk Management Plan Evaluation</a:t>
            </a:r>
            <a:r>
              <a:rPr lang="en-US" sz="3400" dirty="0"/>
              <a:t> - update the risk management plan on a regular basis as risks can change due to the change in business strategies, policies, and operations.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The Risk management process includes:</a:t>
            </a:r>
          </a:p>
        </p:txBody>
      </p:sp>
    </p:spTree>
    <p:extLst>
      <p:ext uri="{BB962C8B-B14F-4D97-AF65-F5344CB8AC3E}">
        <p14:creationId xmlns:p14="http://schemas.microsoft.com/office/powerpoint/2010/main" val="1806709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b="1" dirty="0"/>
              <a:t>System Characterization</a:t>
            </a:r>
            <a:r>
              <a:rPr lang="en-US" sz="3400" dirty="0"/>
              <a:t> - Identify all the resources and infrastructure boundaries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Threat Identification</a:t>
            </a:r>
            <a:r>
              <a:rPr lang="en-US" sz="3400" dirty="0"/>
              <a:t> - List all the possible threat sources applicable to the critical IT assets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Vulnerability Identification</a:t>
            </a:r>
            <a:r>
              <a:rPr lang="en-US" sz="3400" dirty="0"/>
              <a:t> - List all the vulnerabilities that can be maliciously exploited by threat sources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Steps involved in the risk assessment process (#’s 1-3)</a:t>
            </a:r>
          </a:p>
        </p:txBody>
      </p:sp>
    </p:spTree>
    <p:extLst>
      <p:ext uri="{BB962C8B-B14F-4D97-AF65-F5344CB8AC3E}">
        <p14:creationId xmlns:p14="http://schemas.microsoft.com/office/powerpoint/2010/main" val="1911905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400" b="1" dirty="0"/>
              <a:t>Control Analysis</a:t>
            </a:r>
            <a:r>
              <a:rPr lang="en-US" sz="3400" dirty="0"/>
              <a:t> - Identify and analyze the existing controls </a:t>
            </a:r>
          </a:p>
          <a:p>
            <a:pPr marL="0" indent="0">
              <a:buNone/>
            </a:pPr>
            <a:r>
              <a:rPr lang="en-US" sz="3400" dirty="0"/>
              <a:t>	(Output includes the list of all existing and planned security controls used to eliminate the likelihood of a threat source exploiting system vulnerabilities)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Likelihood Analysis</a:t>
            </a:r>
            <a:r>
              <a:rPr lang="en-US" sz="3400" dirty="0"/>
              <a:t> - Evaluate the likelihood of attacks and consequences </a:t>
            </a:r>
          </a:p>
          <a:p>
            <a:pPr marL="0" indent="0">
              <a:buNone/>
            </a:pPr>
            <a:r>
              <a:rPr lang="en-US" sz="3400" dirty="0"/>
              <a:t>	(Output is the likelihood rating of a potential vulnerability being exploited by a threat source)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			Risk Likelihood and Consequence.xlsx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Steps involved in the risk assessment process (#’s 4-5)</a:t>
            </a:r>
          </a:p>
        </p:txBody>
      </p:sp>
    </p:spTree>
    <p:extLst>
      <p:ext uri="{BB962C8B-B14F-4D97-AF65-F5344CB8AC3E}">
        <p14:creationId xmlns:p14="http://schemas.microsoft.com/office/powerpoint/2010/main" val="750774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b="1" dirty="0"/>
              <a:t>Impact Analysis</a:t>
            </a:r>
            <a:r>
              <a:rPr lang="en-US" sz="3400" dirty="0"/>
              <a:t> - Analyze the financial and operational impact of a threat to the business (Qualitative vs Quantitative)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Annualized Loss Expectancy (ALE) = Single Loss Expectancy (SLE) * Annual Rate Occurrence (ARO)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			ALE= SLE * ARO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Steps involved in the risk assessment process (#6)</a:t>
            </a:r>
          </a:p>
        </p:txBody>
      </p:sp>
    </p:spTree>
    <p:extLst>
      <p:ext uri="{BB962C8B-B14F-4D97-AF65-F5344CB8AC3E}">
        <p14:creationId xmlns:p14="http://schemas.microsoft.com/office/powerpoint/2010/main" val="315073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Annualized Loss Expectancy (ALE) = Single Loss Expectancy (SLE) * Annual Rate Occurrence (ARO)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SLE = $ 10,000.00</a:t>
            </a:r>
          </a:p>
          <a:p>
            <a:pPr marL="0" indent="0">
              <a:buNone/>
            </a:pPr>
            <a:r>
              <a:rPr lang="en-US" sz="3400" dirty="0"/>
              <a:t>ARO = 5</a:t>
            </a:r>
          </a:p>
          <a:p>
            <a:pPr marL="0" indent="0">
              <a:buNone/>
            </a:pPr>
            <a:r>
              <a:rPr lang="en-US" sz="3400" dirty="0"/>
              <a:t>=========================</a:t>
            </a:r>
          </a:p>
          <a:p>
            <a:pPr marL="0" indent="0">
              <a:buNone/>
            </a:pPr>
            <a:r>
              <a:rPr lang="en-US" sz="3400" dirty="0"/>
              <a:t>ALE = (10,000.00) * 5 </a:t>
            </a:r>
            <a:r>
              <a:rPr lang="en-US" sz="3400" dirty="0">
                <a:sym typeface="Wingdings" panose="05000000000000000000" pitchFamily="2" charset="2"/>
              </a:rPr>
              <a:t>   $ 50,000.00</a:t>
            </a:r>
            <a:endParaRPr lang="en-US" sz="3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Steps involved in the risk assessment process (#6)</a:t>
            </a:r>
          </a:p>
        </p:txBody>
      </p:sp>
    </p:spTree>
    <p:extLst>
      <p:ext uri="{BB962C8B-B14F-4D97-AF65-F5344CB8AC3E}">
        <p14:creationId xmlns:p14="http://schemas.microsoft.com/office/powerpoint/2010/main" val="2671328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b="1" dirty="0"/>
              <a:t>Risk Determination</a:t>
            </a:r>
            <a:r>
              <a:rPr lang="en-US" sz="3400" dirty="0"/>
              <a:t> - Determine the risk based on likelihood, impact, and capability of security controls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Incident responders can represent and calculate the risk levels using the following formula: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	 Level of risk = consequence × likelihood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Steps involved in the risk assessment process (#7)</a:t>
            </a:r>
          </a:p>
        </p:txBody>
      </p:sp>
    </p:spTree>
    <p:extLst>
      <p:ext uri="{BB962C8B-B14F-4D97-AF65-F5344CB8AC3E}">
        <p14:creationId xmlns:p14="http://schemas.microsoft.com/office/powerpoint/2010/main" val="128294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There are five risk levels: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	1. Insignificant</a:t>
            </a:r>
          </a:p>
          <a:p>
            <a:pPr marL="0" indent="0">
              <a:buNone/>
            </a:pPr>
            <a:r>
              <a:rPr lang="en-US" sz="3400" dirty="0"/>
              <a:t>	2. Minor</a:t>
            </a:r>
          </a:p>
          <a:p>
            <a:pPr marL="0" indent="0">
              <a:buNone/>
            </a:pPr>
            <a:r>
              <a:rPr lang="en-US" sz="3400" dirty="0"/>
              <a:t>	3. Moderate</a:t>
            </a:r>
          </a:p>
          <a:p>
            <a:pPr marL="0" indent="0">
              <a:buNone/>
            </a:pPr>
            <a:r>
              <a:rPr lang="en-US" sz="3400" dirty="0"/>
              <a:t>	4. Major</a:t>
            </a:r>
          </a:p>
          <a:p>
            <a:pPr marL="0" indent="0">
              <a:buNone/>
            </a:pPr>
            <a:r>
              <a:rPr lang="en-US" sz="3400" dirty="0"/>
              <a:t>	5. Severe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Steps involved in the risk assessment process</a:t>
            </a:r>
          </a:p>
        </p:txBody>
      </p:sp>
    </p:spTree>
    <p:extLst>
      <p:ext uri="{BB962C8B-B14F-4D97-AF65-F5344CB8AC3E}">
        <p14:creationId xmlns:p14="http://schemas.microsoft.com/office/powerpoint/2010/main" val="3718757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How do we "TREAT" Risk? -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	Accept – (I know, but we will do it anyway)</a:t>
            </a:r>
          </a:p>
          <a:p>
            <a:pPr marL="0" indent="0">
              <a:buNone/>
            </a:pPr>
            <a:r>
              <a:rPr lang="en-US" sz="3400" dirty="0"/>
              <a:t>	Avoid – (Not happening !!)</a:t>
            </a:r>
          </a:p>
          <a:p>
            <a:pPr marL="0" indent="0">
              <a:buNone/>
            </a:pPr>
            <a:r>
              <a:rPr lang="en-US" sz="3400" dirty="0"/>
              <a:t>	Transfer – (Insurance or Cloud)</a:t>
            </a:r>
          </a:p>
          <a:p>
            <a:pPr marL="0" indent="0">
              <a:buNone/>
            </a:pPr>
            <a:r>
              <a:rPr lang="en-US" sz="3400" dirty="0"/>
              <a:t>	Mitigate (Minimize) – (lower to acceptable level)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Steps involved in the risk assessment process</a:t>
            </a:r>
          </a:p>
        </p:txBody>
      </p:sp>
    </p:spTree>
    <p:extLst>
      <p:ext uri="{BB962C8B-B14F-4D97-AF65-F5344CB8AC3E}">
        <p14:creationId xmlns:p14="http://schemas.microsoft.com/office/powerpoint/2010/main" val="4278189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b="1" dirty="0"/>
              <a:t>Control Recommendation</a:t>
            </a:r>
            <a:r>
              <a:rPr lang="en-US" sz="3400" dirty="0"/>
              <a:t> - Recommend controls based on the likelihood, impact, and criticality of risk to/for business operations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Steps involved in the risk assessment process (#8)</a:t>
            </a:r>
          </a:p>
        </p:txBody>
      </p:sp>
    </p:spTree>
    <p:extLst>
      <p:ext uri="{BB962C8B-B14F-4D97-AF65-F5344CB8AC3E}">
        <p14:creationId xmlns:p14="http://schemas.microsoft.com/office/powerpoint/2010/main" val="2641112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3600" dirty="0"/>
              <a:t>The 7 main types of control are: </a:t>
            </a:r>
          </a:p>
          <a:p>
            <a:pPr marL="0" indent="0">
              <a:buNone/>
            </a:pPr>
            <a:endParaRPr lang="en-US" sz="3600" b="1" dirty="0"/>
          </a:p>
          <a:p>
            <a:pPr marL="0" indent="0">
              <a:buNone/>
            </a:pPr>
            <a:r>
              <a:rPr lang="en-US" sz="3600" b="1" dirty="0"/>
              <a:t>Deterrent</a:t>
            </a:r>
            <a:r>
              <a:rPr lang="en-US" sz="3600" dirty="0"/>
              <a:t>: attempt to discourage security policy violations</a:t>
            </a:r>
          </a:p>
          <a:p>
            <a:pPr marL="0" indent="0">
              <a:buNone/>
            </a:pPr>
            <a:endParaRPr lang="en-US" sz="3600" b="1" dirty="0"/>
          </a:p>
          <a:p>
            <a:pPr marL="0" indent="0">
              <a:buNone/>
            </a:pPr>
            <a:r>
              <a:rPr lang="en-US" sz="3600" b="1" dirty="0"/>
              <a:t>Preventive</a:t>
            </a:r>
            <a:r>
              <a:rPr lang="en-US" sz="3600" dirty="0"/>
              <a:t>: attempt to stop unwanted access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	(Key difference between Preventative and Deterrent is that preventative blocks action while deterrent relies on individual making the right choice)</a:t>
            </a:r>
            <a:r>
              <a:rPr lang="en-US" sz="3400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Steps involved in the risk assessment process</a:t>
            </a:r>
          </a:p>
        </p:txBody>
      </p:sp>
    </p:spTree>
    <p:extLst>
      <p:ext uri="{BB962C8B-B14F-4D97-AF65-F5344CB8AC3E}">
        <p14:creationId xmlns:p14="http://schemas.microsoft.com/office/powerpoint/2010/main" val="3025590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Detective</a:t>
            </a:r>
            <a:r>
              <a:rPr lang="en-US" sz="2800" dirty="0"/>
              <a:t>: attempt to identify unauthorized access AFTER occurrence of unauthorized activity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Corrective</a:t>
            </a:r>
            <a:r>
              <a:rPr lang="en-US" sz="2800" dirty="0"/>
              <a:t>: modifies environment to return to normal operation AFTER occurrence of unauthorized activity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Recovery</a:t>
            </a:r>
            <a:r>
              <a:rPr lang="en-US" sz="2800" dirty="0"/>
              <a:t>: attempt to repair or restore after a security violation - extension of corrective controls, but have more advanced capabilities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Steps involved in the risk assessment process</a:t>
            </a:r>
          </a:p>
        </p:txBody>
      </p:sp>
    </p:spTree>
    <p:extLst>
      <p:ext uri="{BB962C8B-B14F-4D97-AF65-F5344CB8AC3E}">
        <p14:creationId xmlns:p14="http://schemas.microsoft.com/office/powerpoint/2010/main" val="1965795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Directive</a:t>
            </a:r>
            <a:r>
              <a:rPr lang="en-US" sz="2800" dirty="0"/>
              <a:t>: attempt to specify action(s) to ensure compliance with security policy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Compensating</a:t>
            </a:r>
            <a:r>
              <a:rPr lang="en-US" sz="2800" dirty="0"/>
              <a:t>: attempt to provide an alternate control in absence of primary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Steps involved in the risk assessment process</a:t>
            </a:r>
          </a:p>
        </p:txBody>
      </p:sp>
    </p:spTree>
    <p:extLst>
      <p:ext uri="{BB962C8B-B14F-4D97-AF65-F5344CB8AC3E}">
        <p14:creationId xmlns:p14="http://schemas.microsoft.com/office/powerpoint/2010/main" val="3007786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b="1" dirty="0"/>
              <a:t>Risks Assessment Report</a:t>
            </a:r>
            <a:r>
              <a:rPr lang="en-US" sz="3400" dirty="0"/>
              <a:t> - Present the results of the risk assessment formally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Steps involved in the risk assessment process (#9)</a:t>
            </a:r>
          </a:p>
        </p:txBody>
      </p:sp>
    </p:spTree>
    <p:extLst>
      <p:ext uri="{BB962C8B-B14F-4D97-AF65-F5344CB8AC3E}">
        <p14:creationId xmlns:p14="http://schemas.microsoft.com/office/powerpoint/2010/main" val="3973084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8A12691F-C6F0-449D-9E23-C5F5CD9557B0}"/>
</file>

<file path=customXml/itemProps2.xml><?xml version="1.0" encoding="utf-8"?>
<ds:datastoreItem xmlns:ds="http://schemas.openxmlformats.org/officeDocument/2006/customXml" ds:itemID="{7EA4BF66-D545-41E0-83D5-9C27FC43801D}"/>
</file>

<file path=customXml/itemProps3.xml><?xml version="1.0" encoding="utf-8"?>
<ds:datastoreItem xmlns:ds="http://schemas.openxmlformats.org/officeDocument/2006/customXml" ds:itemID="{BA5E55D4-54BA-4140-8E5E-848D3BDFF67A}"/>
</file>

<file path=docProps/app.xml><?xml version="1.0" encoding="utf-8"?>
<Properties xmlns="http://schemas.openxmlformats.org/officeDocument/2006/extended-properties" xmlns:vt="http://schemas.openxmlformats.org/officeDocument/2006/docPropsVTypes">
  <TotalTime>2708</TotalTime>
  <Words>708</Words>
  <Application>Microsoft Office PowerPoint</Application>
  <PresentationFormat>Widescreen</PresentationFormat>
  <Paragraphs>96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What is Risk Management?</vt:lpstr>
      <vt:lpstr>The Risk management process includes:</vt:lpstr>
      <vt:lpstr>Steps involved in the risk assessment process (#’s 1-3)</vt:lpstr>
      <vt:lpstr>Steps involved in the risk assessment process (#’s 4-5)</vt:lpstr>
      <vt:lpstr>Steps involved in the risk assessment process (#6)</vt:lpstr>
      <vt:lpstr>Steps involved in the risk assessment process (#6)</vt:lpstr>
      <vt:lpstr>Steps involved in the risk assessment process (#7)</vt:lpstr>
      <vt:lpstr>Steps involved in the risk assessment process</vt:lpstr>
      <vt:lpstr>Steps involved in the risk assessment process</vt:lpstr>
      <vt:lpstr>Steps involved in the risk assessment process (#8)</vt:lpstr>
      <vt:lpstr>Steps involved in the risk assessment process</vt:lpstr>
      <vt:lpstr>Steps involved in the risk assessment process</vt:lpstr>
      <vt:lpstr>Steps involved in the risk assessment process</vt:lpstr>
      <vt:lpstr>Steps involved in the risk assessment process (#9)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92</cp:revision>
  <cp:lastPrinted>2020-04-29T19:12:33Z</cp:lastPrinted>
  <dcterms:created xsi:type="dcterms:W3CDTF">2020-04-24T18:08:50Z</dcterms:created>
  <dcterms:modified xsi:type="dcterms:W3CDTF">2020-08-21T17:17:19Z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