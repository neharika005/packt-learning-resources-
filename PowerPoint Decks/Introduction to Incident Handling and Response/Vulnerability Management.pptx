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880" r:id="rId2"/>
    <p:sldId id="2881" r:id="rId3"/>
    <p:sldId id="2882" r:id="rId4"/>
    <p:sldId id="2885" r:id="rId5"/>
    <p:sldId id="2883" r:id="rId6"/>
    <p:sldId id="2886" r:id="rId7"/>
    <p:sldId id="2884" r:id="rId8"/>
    <p:sldId id="2887" r:id="rId9"/>
    <p:sldId id="2888" r:id="rId10"/>
    <p:sldId id="2889" r:id="rId11"/>
    <p:sldId id="2890" r:id="rId12"/>
    <p:sldId id="2893" r:id="rId13"/>
    <p:sldId id="2891" r:id="rId14"/>
    <p:sldId id="2892" r:id="rId15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F550400D-634F-4ECE-8B99-E301607E417A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2CA5BA8-5709-4BCF-8567-BC7E03002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6341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5832483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670132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446863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9045638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5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551825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6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6770221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7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08166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8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678825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9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479944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10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872238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11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207068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12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829762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13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8427269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defTabSz="931774">
              <a:defRPr/>
            </a:pPr>
            <a:fld id="{90E1908C-B156-4A85-BA85-F48C61D5A02D}" type="slidenum">
              <a:rPr lang="en-US" sz="1300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14</a:t>
            </a:fld>
            <a:endParaRPr lang="en-US" sz="1300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9408799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FFCC102-5D77-AB4A-B015-62CEE166E515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6CB8CD-22B6-8E44-A0B2-E202A3F50FC0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91E13A89-D0B2-A346-9918-7B58BA5F80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537DE53-9F91-F144-B090-6891FC7F6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1782" y="1354512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C3AB1C3-283D-F547-BE60-C0223B09E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21782" y="3539550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10504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550376-BED7-4B46-B83A-D8C4218AB513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3B7B21E-0316-A247-8CEE-8DE76EAD7C95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1FFA49D0-3C17-1747-A936-9501950BD5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2486" b="28721"/>
          <a:stretch/>
        </p:blipFill>
        <p:spPr>
          <a:xfrm>
            <a:off x="409554" y="221946"/>
            <a:ext cx="2688317" cy="833317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004542C0-6F92-F542-B358-53649EAA8761}"/>
              </a:ext>
            </a:extLst>
          </p:cNvPr>
          <p:cNvSpPr txBox="1">
            <a:spLocks/>
          </p:cNvSpPr>
          <p:nvPr userDrawn="1"/>
        </p:nvSpPr>
        <p:spPr>
          <a:xfrm>
            <a:off x="624051" y="5195340"/>
            <a:ext cx="10943897" cy="12533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Courier New" panose="02070309020205020404" pitchFamily="49" charset="0"/>
              <a:buNone/>
              <a:tabLst/>
              <a:defRPr sz="2800" b="1" i="0" kern="1200">
                <a:solidFill>
                  <a:schemeClr val="tx1"/>
                </a:solidFill>
                <a:latin typeface="Proxima Nova Semibold" panose="02000506030000020004" pitchFamily="2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20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8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Courier New" panose="02070309020205020404" pitchFamily="49" charset="0"/>
              <a:buNone/>
              <a:tabLst/>
              <a:defRPr sz="1600" b="0" i="0" kern="1200">
                <a:solidFill>
                  <a:srgbClr val="525656"/>
                </a:solidFill>
                <a:latin typeface="Adelle Sans" panose="02000503000000020004" pitchFamily="2" charset="77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b="0" i="0">
                <a:solidFill>
                  <a:schemeClr val="bg1"/>
                </a:solidFill>
                <a:latin typeface="Adelle Sans" panose="02000503000000020004" pitchFamily="2" charset="77"/>
              </a:rP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54250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F951679-C038-3D4F-B9C6-BD4097A52467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2ECF62-AF5A-6A4B-8DAF-6576CE0FE9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1175123" cy="4687891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 marL="6858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 marL="11430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 marL="16002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 marL="2057400" indent="-228600">
              <a:buFont typeface="Courier New" panose="02070309020205020404" pitchFamily="49" charset="0"/>
              <a:buChar char="o"/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8B7FA2-906C-224F-91E8-737C56BAA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CF5606-6DC5-4A43-91BA-969B544329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34C16D8-B479-BB46-AD7C-0AC4F5CEDC7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377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02ADA8A-EE40-8D42-B058-429F77AD6030}"/>
              </a:ext>
            </a:extLst>
          </p:cNvPr>
          <p:cNvSpPr/>
          <p:nvPr userDrawn="1"/>
        </p:nvSpPr>
        <p:spPr>
          <a:xfrm>
            <a:off x="76199" y="1257301"/>
            <a:ext cx="12039600" cy="5524499"/>
          </a:xfrm>
          <a:prstGeom prst="rect">
            <a:avLst/>
          </a:prstGeom>
          <a:solidFill>
            <a:schemeClr val="tx1"/>
          </a:solidFill>
          <a:ln w="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tx1"/>
                </a:solidFill>
              </a:ln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34CEAF-3B24-A242-A428-FB8B1A7D5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648054"/>
            <a:ext cx="10515600" cy="1882337"/>
          </a:xfrm>
          <a:prstGeom prst="rect">
            <a:avLst/>
          </a:prstGeom>
          <a:ln>
            <a:noFill/>
          </a:ln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B81C1E-F57C-FB49-8A8C-E5F2C60D0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814406"/>
            <a:ext cx="10515600" cy="95999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2B0757F-692F-4442-AC10-47BE80EC63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8801" b="16721"/>
          <a:stretch/>
        </p:blipFill>
        <p:spPr>
          <a:xfrm>
            <a:off x="5496490" y="237942"/>
            <a:ext cx="1327643" cy="856044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75C7F33-8A0F-C247-8673-DF3D12BB0E56}"/>
              </a:ext>
            </a:extLst>
          </p:cNvPr>
          <p:cNvCxnSpPr>
            <a:cxnSpLocks/>
          </p:cNvCxnSpPr>
          <p:nvPr userDrawn="1"/>
        </p:nvCxnSpPr>
        <p:spPr>
          <a:xfrm>
            <a:off x="76199" y="1257301"/>
            <a:ext cx="12039600" cy="0"/>
          </a:xfrm>
          <a:prstGeom prst="lin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3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6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48A93EA-740D-534C-9F9A-851CAAFC6F5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27230" y="1161288"/>
            <a:ext cx="5339256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2B1C16-A483-9045-B5B4-5312C63A98D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CDC1CD-60B7-3A48-9555-D2A53A2C6D9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8F647ED5-144A-1F43-9397-C331DF9F50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69641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161288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841E47F-9CBC-DD48-8C04-77F3D57C3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6293178-3B92-7843-ACDD-A6618DC287B8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752F457-B5E3-8F47-95DD-D367B00BA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FC8432-B0CC-124E-92A6-31C64477B9CF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541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5601DA-8347-6048-AFC7-B3EE3A4EDB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4" y="1161288"/>
            <a:ext cx="6763234" cy="2911642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B32B816-31A6-5D4A-A375-EC666A89A1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1699" y="1161288"/>
            <a:ext cx="3549974" cy="44374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9126C43-57A2-E347-AD98-A4972DDFF02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E068130-E2E2-5E46-8F8E-5AB9C589153C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76860F66-25E7-8E47-8582-F4D74F2E4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FC791A-95B2-5E41-9A70-75AB9C875165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71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5CA925-A192-0942-8DCB-09514A197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788494-3E34-F041-B8E4-A88C3ED8C5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51CB6872-94EB-EB45-BDBF-F7D3974C9DE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358758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DDE1C7E-4CC2-C942-8FC1-BE8CDAB37D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E3E685A-2A2D-6D4B-90D0-C351A9D72C70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358758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AAE57A-FE05-9C4D-864E-23C54D16BF2F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A55EC85A-83D7-754F-92C5-D85306B21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E895DC7-61FB-464B-A0D1-046B8C0906C9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92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1FF22C-90B2-C248-AC4E-B2382376A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70C5A3-B0F2-B343-A1A8-822AF0AFBF3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34540" y="1530094"/>
            <a:ext cx="5501262" cy="1943146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537D7183-C54B-2B4D-B36F-3DFB8F31E7F4}"/>
              </a:ext>
            </a:extLst>
          </p:cNvPr>
          <p:cNvSpPr/>
          <p:nvPr userDrawn="1"/>
        </p:nvSpPr>
        <p:spPr>
          <a:xfrm>
            <a:off x="73152" y="7315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A31B2F-9578-7B4B-A18A-143A08D25286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7395722-9303-174D-ADA2-E8CEB2DD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5516" y="1118193"/>
            <a:ext cx="5339256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>
                <a:solidFill>
                  <a:schemeClr val="accent6">
                    <a:lumMod val="50000"/>
                  </a:schemeClr>
                </a:solidFill>
                <a:latin typeface="Proxima Nova Semibold" panose="02000506030000020004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AC5BA04E-B66F-8A48-943B-662CC11409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516" y="2051473"/>
            <a:ext cx="5339256" cy="3684588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D8779A3-A4DE-484C-BE3C-DB7ADCD25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8243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5BD484-3EA0-2E4E-A60B-8C347D911C8D}"/>
              </a:ext>
            </a:extLst>
          </p:cNvPr>
          <p:cNvSpPr/>
          <p:nvPr/>
        </p:nvSpPr>
        <p:spPr>
          <a:xfrm>
            <a:off x="73152" y="73152"/>
            <a:ext cx="12037568" cy="6713728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noFill/>
              </a:rPr>
              <a:t>     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795B372-A8BB-B64B-AD18-74876C5FB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4" y="1161288"/>
            <a:ext cx="10943431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D42F22-D84C-BA44-A88C-5F7DF96918F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F1B5676D-862E-0E47-9C05-7682B86B5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22474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F04465-AABC-3A4F-8FC9-8995FEDCDC6F}"/>
              </a:ext>
            </a:extLst>
          </p:cNvPr>
          <p:cNvSpPr/>
          <p:nvPr/>
        </p:nvSpPr>
        <p:spPr>
          <a:xfrm>
            <a:off x="76200" y="76202"/>
            <a:ext cx="8839200" cy="6674095"/>
          </a:xfrm>
          <a:prstGeom prst="rect">
            <a:avLst/>
          </a:prstGeom>
          <a:solidFill>
            <a:srgbClr val="151945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EFD6FA-B95F-4B4E-B8E9-6AA2FC8215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E481BF-4009-2943-A1EB-41598785198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63000" y="0"/>
            <a:ext cx="3429000" cy="68580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C2C405E-EB31-5040-A5D4-B62FD785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25" y="1161288"/>
            <a:ext cx="7668688" cy="441003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9E52FE2-18BD-AE42-8568-24AFE8F2E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18288"/>
            <a:ext cx="7668689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322210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ORT Bullets and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BEC28D-04BA-104A-BA4B-BC3FEFA7E2D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374771" y="1124903"/>
            <a:ext cx="4576693" cy="4576693"/>
          </a:xfrm>
          <a:prstGeom prst="rect">
            <a:avLst/>
          </a:prstGeom>
        </p:spPr>
      </p:pic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2C8D256E-5B00-D64D-A0EC-80D6BD554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5463" y="1161288"/>
            <a:ext cx="4826825" cy="3834805"/>
          </a:xfrm>
          <a:prstGeom prst="rect">
            <a:avLst/>
          </a:prstGeom>
        </p:spPr>
        <p:txBody>
          <a:bodyPr/>
          <a:lstStyle>
            <a:lvl1pPr>
              <a:defRPr sz="2000" b="0" i="0">
                <a:latin typeface="Adelle Sans" panose="02000503000000020004" pitchFamily="2" charset="77"/>
              </a:defRPr>
            </a:lvl1pPr>
            <a:lvl2pPr>
              <a:defRPr sz="1800" b="0" i="0">
                <a:solidFill>
                  <a:srgbClr val="525656"/>
                </a:solidFill>
                <a:latin typeface="Adelle Sans" panose="02000503000000020004" pitchFamily="2" charset="77"/>
              </a:defRPr>
            </a:lvl2pPr>
            <a:lvl3pPr>
              <a:defRPr sz="1600" b="0" i="0">
                <a:solidFill>
                  <a:srgbClr val="525656"/>
                </a:solidFill>
                <a:latin typeface="Adelle Sans" panose="02000503000000020004" pitchFamily="2" charset="77"/>
              </a:defRPr>
            </a:lvl3pPr>
            <a:lvl4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4pPr>
            <a:lvl5pPr>
              <a:defRPr b="0" i="0">
                <a:solidFill>
                  <a:srgbClr val="525656"/>
                </a:solidFill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7573F1-14B9-C145-93E8-D66D31701A10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940DA479-972A-AC44-8FF3-6E03BA01F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658B93-7979-CF45-802B-A99C6576E858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3803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1"/>
            <a:ext cx="12039600" cy="12283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82F6E4A-1F7B-5B40-9689-E5E7AB056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5515" y="1463040"/>
            <a:ext cx="11022320" cy="4247315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Adelle Sans" panose="02000503000000020004" pitchFamily="2" charset="77"/>
              </a:defRPr>
            </a:lvl1pPr>
            <a:lvl2pPr>
              <a:defRPr b="0" i="0">
                <a:latin typeface="Adelle Sans" panose="02000503000000020004" pitchFamily="2" charset="77"/>
              </a:defRPr>
            </a:lvl2pPr>
            <a:lvl3pPr>
              <a:defRPr b="0" i="0">
                <a:latin typeface="Adelle Sans" panose="02000503000000020004" pitchFamily="2" charset="77"/>
              </a:defRPr>
            </a:lvl3pPr>
            <a:lvl4pPr>
              <a:defRPr b="0" i="0">
                <a:latin typeface="Adelle Sans" panose="02000503000000020004" pitchFamily="2" charset="77"/>
              </a:defRPr>
            </a:lvl4pPr>
            <a:lvl5pPr>
              <a:defRPr b="0" i="0">
                <a:latin typeface="Adelle Sans" panose="02000503000000020004" pitchFamily="2" charset="77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26AB305-7FA0-2C41-ADCF-834278ABE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2788486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6A5AF1-5967-884E-BB29-5EAC91B62B4B}"/>
              </a:ext>
            </a:extLst>
          </p:cNvPr>
          <p:cNvSpPr/>
          <p:nvPr userDrawn="1"/>
        </p:nvSpPr>
        <p:spPr>
          <a:xfrm>
            <a:off x="76200" y="76202"/>
            <a:ext cx="12039600" cy="84580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A705E69-3D25-EF43-9B57-0C3AC1F5F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124" y="-21891"/>
            <a:ext cx="11175123" cy="10419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 i="0">
                <a:solidFill>
                  <a:schemeClr val="bg1"/>
                </a:solidFill>
                <a:latin typeface="Proxima Nova" panose="02000506030000020004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E2573F-BD73-B044-8C4C-CB67550B3DF3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0615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Alterna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F96A518-3E71-3F41-B51D-F3F8D63F1B0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294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Bar Title with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F56205AC-B058-5249-8CA7-CB5ED13997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CABD4948-F528-774E-A210-25D1BE40C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8474" y="261082"/>
            <a:ext cx="10515600" cy="7983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DB2080D5-BCF5-0642-B066-3A2589E22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474" y="1359698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D70B3E-6C46-734E-BC63-4349922825C1}"/>
              </a:ext>
            </a:extLst>
          </p:cNvPr>
          <p:cNvSpPr/>
          <p:nvPr userDrawn="1"/>
        </p:nvSpPr>
        <p:spPr>
          <a:xfrm>
            <a:off x="0" y="6781798"/>
            <a:ext cx="12192000" cy="762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590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6D46A-D5FE-DB4E-9784-A54A02D89F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79968-F075-E745-9452-7E0CAAC6C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2380-0A23-D140-9B2B-5F141AB5F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6425EA-EF92-714F-B7AD-0B245EA42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27246F-5803-9542-865F-75DB9463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49106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A31B4E-687D-2C4C-B95D-A513660DA4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EFC86-AA65-C840-9828-EBFF405DC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85563C-0652-F94A-A10D-3A82E9DDB9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0827792-99C6-C343-827E-BE9EDF804372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0E9DA-0CA4-8A46-9B6A-E0873DE65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926DA-2D9C-9848-8B94-21D740CEC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3E3505C-93DC-5644-BB7E-5D517224F4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889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85057" y="45816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 i="0">
                <a:solidFill>
                  <a:schemeClr val="accent1"/>
                </a:solidFill>
                <a:latin typeface="Proxima Nova Semibold" panose="02000506030000020004" pitchFamily="50" charset="0"/>
                <a:ea typeface="Proxima Nova Semibold" panose="02000506030000020004" pitchFamily="50" charset="0"/>
                <a:cs typeface="Proxima Nova Semibold" panose="02000506030000020004" pitchFamily="50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 flipH="1">
            <a:off x="1" y="1253823"/>
            <a:ext cx="5900056" cy="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43B3D3-40A8-3046-B6AB-B81608DE9A5C}"/>
              </a:ext>
            </a:extLst>
          </p:cNvPr>
          <p:cNvCxnSpPr/>
          <p:nvPr userDrawn="1"/>
        </p:nvCxnSpPr>
        <p:spPr>
          <a:xfrm>
            <a:off x="3466640" y="6632154"/>
            <a:ext cx="8725360" cy="0"/>
          </a:xfrm>
          <a:prstGeom prst="line">
            <a:avLst/>
          </a:prstGeom>
          <a:ln w="25400">
            <a:solidFill>
              <a:srgbClr val="FF67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0D94AF16-4C7A-0B4E-9E9B-4552F153A22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-19535" y="5350042"/>
            <a:ext cx="1515544" cy="150795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2F31C6A-B9BE-7B40-BC2A-95807FB6F92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40" y="6211178"/>
            <a:ext cx="2013203" cy="619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0874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C5976-D2A9-0E40-B643-553E9C12721E}" type="datetimeFigureOut">
              <a:rPr lang="en-US" smtClean="0"/>
              <a:t>8/17/2020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D34D80-FED8-0347-99C2-A970D5E76F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12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F93D5-62F0-5145-AB64-7AC90B60F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F652F-5C50-294A-A9ED-638E2DAF4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1495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3796E1-F957-0F48-8AD0-8F8E3D0E59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2"/>
          <a:srcRect r="66281" b="-1742"/>
          <a:stretch/>
        </p:blipFill>
        <p:spPr>
          <a:xfrm>
            <a:off x="275249" y="5904491"/>
            <a:ext cx="686450" cy="732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8567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tx1"/>
          </a:solidFill>
          <a:latin typeface="Proxima Nova" panose="02000506030000020004" pitchFamily="2" charset="0"/>
          <a:ea typeface="+mj-ea"/>
          <a:cs typeface="+mj-cs"/>
        </a:defRPr>
      </a:lvl1pPr>
    </p:titleStyle>
    <p:bodyStyle>
      <a:lvl1pPr marL="344488" indent="-344488" algn="l" defTabSz="914400" rtl="0" eaLnBrk="1" latinLnBrk="0" hangingPunct="1">
        <a:lnSpc>
          <a:spcPct val="90000"/>
        </a:lnSpc>
        <a:spcBef>
          <a:spcPts val="1000"/>
        </a:spcBef>
        <a:buFont typeface="Courier New" panose="02070309020205020404" pitchFamily="49" charset="0"/>
        <a:buChar char="o"/>
        <a:tabLst/>
        <a:defRPr sz="20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1pPr>
      <a:lvl2pPr marL="7508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8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2pPr>
      <a:lvl3pPr marL="1208088" indent="-293688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6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3pPr>
      <a:lvl4pPr marL="16049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4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4pPr>
      <a:lvl5pPr marL="2062163" indent="-233363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tabLst/>
        <a:defRPr sz="1200" b="0" i="0" kern="1200">
          <a:solidFill>
            <a:srgbClr val="525656"/>
          </a:solidFill>
          <a:latin typeface="Adelle Sans" panose="02000503000000020004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6624">
          <p15:clr>
            <a:srgbClr val="F26B43"/>
          </p15:clr>
        </p15:guide>
        <p15:guide id="2" orient="horz" pos="28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A weakness that can be exploited by a bad actor if discovered !!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a Vulnerability?</a:t>
            </a:r>
          </a:p>
        </p:txBody>
      </p:sp>
    </p:spTree>
    <p:extLst>
      <p:ext uri="{BB962C8B-B14F-4D97-AF65-F5344CB8AC3E}">
        <p14:creationId xmlns:p14="http://schemas.microsoft.com/office/powerpoint/2010/main" val="421474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Common Vulnerability Scoring System (CVSS) (https://nvd.nist.gov)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Common Vulnerabilities and Exposures (CVE) (https://cve.mitre.org)</a:t>
            </a:r>
          </a:p>
          <a:p>
            <a:pPr marL="0" indent="0">
              <a:buNone/>
            </a:pPr>
            <a:endParaRPr lang="en-US" sz="3400" dirty="0"/>
          </a:p>
          <a:p>
            <a:pPr marL="0" indent="0">
              <a:buNone/>
            </a:pPr>
            <a:r>
              <a:rPr lang="en-US" sz="3400" dirty="0"/>
              <a:t>National Vulnerability Database (NVD) (https://nvd.nist.gov)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are some common Vulnerability Research Websites?</a:t>
            </a:r>
          </a:p>
        </p:txBody>
      </p:sp>
    </p:spTree>
    <p:extLst>
      <p:ext uri="{BB962C8B-B14F-4D97-AF65-F5344CB8AC3E}">
        <p14:creationId xmlns:p14="http://schemas.microsoft.com/office/powerpoint/2010/main" val="2537031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Misconfigurations</a:t>
            </a:r>
          </a:p>
          <a:p>
            <a:pPr marL="0" indent="0">
              <a:buNone/>
            </a:pPr>
            <a:r>
              <a:rPr lang="en-US" sz="3400" dirty="0"/>
              <a:t>Default Installations</a:t>
            </a:r>
          </a:p>
          <a:p>
            <a:pPr marL="0" indent="0">
              <a:buNone/>
            </a:pPr>
            <a:r>
              <a:rPr lang="en-US" sz="3400" dirty="0"/>
              <a:t>Buffer Overflows</a:t>
            </a:r>
          </a:p>
          <a:p>
            <a:pPr marL="0" indent="0">
              <a:buNone/>
            </a:pPr>
            <a:r>
              <a:rPr lang="en-US" sz="3400" dirty="0"/>
              <a:t>Unpatched Servers</a:t>
            </a:r>
          </a:p>
          <a:p>
            <a:pPr marL="0" indent="0">
              <a:buNone/>
            </a:pPr>
            <a:r>
              <a:rPr lang="en-US" sz="3400" dirty="0"/>
              <a:t>Design Flaws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Are there Vulnerability Classifications?</a:t>
            </a:r>
          </a:p>
        </p:txBody>
      </p:sp>
    </p:spTree>
    <p:extLst>
      <p:ext uri="{BB962C8B-B14F-4D97-AF65-F5344CB8AC3E}">
        <p14:creationId xmlns:p14="http://schemas.microsoft.com/office/powerpoint/2010/main" val="2038295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400" dirty="0"/>
              <a:t>Operating System Flaws</a:t>
            </a:r>
          </a:p>
          <a:p>
            <a:pPr marL="0" indent="0">
              <a:buNone/>
            </a:pPr>
            <a:r>
              <a:rPr lang="en-US" sz="3400" dirty="0"/>
              <a:t>Application Flaws</a:t>
            </a:r>
          </a:p>
          <a:p>
            <a:pPr marL="0" indent="0">
              <a:buNone/>
            </a:pPr>
            <a:r>
              <a:rPr lang="en-US" sz="3400" dirty="0"/>
              <a:t>Open Services</a:t>
            </a:r>
          </a:p>
          <a:p>
            <a:pPr marL="0" indent="0">
              <a:buNone/>
            </a:pPr>
            <a:r>
              <a:rPr lang="en-US" sz="3400" dirty="0"/>
              <a:t>Default Passwords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Are there Vulnerability Classifications?</a:t>
            </a:r>
          </a:p>
        </p:txBody>
      </p:sp>
    </p:spTree>
    <p:extLst>
      <p:ext uri="{BB962C8B-B14F-4D97-AF65-F5344CB8AC3E}">
        <p14:creationId xmlns:p14="http://schemas.microsoft.com/office/powerpoint/2010/main" val="108265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Examination of the ability of a system or application, including current security procedures and controls, to withstand assault.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Seeks to identify, measure, and classify security vulnerabilities in a computer system, network, and communication channels.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a Vulnerability Assessment?</a:t>
            </a:r>
          </a:p>
        </p:txBody>
      </p:sp>
    </p:spTree>
    <p:extLst>
      <p:ext uri="{BB962C8B-B14F-4D97-AF65-F5344CB8AC3E}">
        <p14:creationId xmlns:p14="http://schemas.microsoft.com/office/powerpoint/2010/main" val="639292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Active &amp; Passive</a:t>
            </a:r>
          </a:p>
          <a:p>
            <a:pPr marL="0" indent="0">
              <a:buNone/>
            </a:pPr>
            <a:r>
              <a:rPr lang="en-US" sz="3200" dirty="0"/>
              <a:t>External &amp; Internal</a:t>
            </a:r>
          </a:p>
          <a:p>
            <a:pPr marL="0" indent="0">
              <a:buNone/>
            </a:pPr>
            <a:r>
              <a:rPr lang="en-US" sz="3200" dirty="0"/>
              <a:t>Host-Based</a:t>
            </a:r>
          </a:p>
          <a:p>
            <a:pPr marL="0" indent="0">
              <a:buNone/>
            </a:pPr>
            <a:r>
              <a:rPr lang="en-US" sz="3200" dirty="0"/>
              <a:t>Network</a:t>
            </a:r>
          </a:p>
          <a:p>
            <a:pPr marL="0" indent="0">
              <a:buNone/>
            </a:pPr>
            <a:r>
              <a:rPr lang="en-US" sz="3200" dirty="0"/>
              <a:t>Application</a:t>
            </a:r>
          </a:p>
          <a:p>
            <a:pPr marL="0" indent="0">
              <a:buNone/>
            </a:pPr>
            <a:r>
              <a:rPr lang="en-US" sz="3200" dirty="0"/>
              <a:t>Wireless</a:t>
            </a:r>
          </a:p>
          <a:p>
            <a:pPr marL="0" indent="0">
              <a:buNone/>
            </a:pPr>
            <a:endParaRPr lang="en-US" sz="32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Types of Vulnerability Assessments</a:t>
            </a:r>
          </a:p>
        </p:txBody>
      </p:sp>
    </p:spTree>
    <p:extLst>
      <p:ext uri="{BB962C8B-B14F-4D97-AF65-F5344CB8AC3E}">
        <p14:creationId xmlns:p14="http://schemas.microsoft.com/office/powerpoint/2010/main" val="2660250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3200" dirty="0"/>
              <a:t>Useful for finding and remediating security weaknesses before they are exploited. </a:t>
            </a:r>
          </a:p>
          <a:p>
            <a:pPr marL="0" indent="0">
              <a:buNone/>
            </a:pPr>
            <a:endParaRPr lang="en-US" sz="3200" dirty="0"/>
          </a:p>
          <a:p>
            <a:pPr marL="0" indent="0">
              <a:buNone/>
            </a:pPr>
            <a:r>
              <a:rPr lang="en-US" sz="3200" dirty="0"/>
              <a:t>Includes:</a:t>
            </a:r>
          </a:p>
          <a:p>
            <a:r>
              <a:rPr lang="en-US" sz="3200" dirty="0"/>
              <a:t>Defining the risk posture and policies for an organization</a:t>
            </a:r>
          </a:p>
          <a:p>
            <a:r>
              <a:rPr lang="en-US" sz="3200" dirty="0"/>
              <a:t>Creating a complete asset list of systems</a:t>
            </a:r>
          </a:p>
          <a:p>
            <a:r>
              <a:rPr lang="en-US" sz="3200" dirty="0"/>
              <a:t>Scanning and assessing the environment for vulnerabilities and exposures</a:t>
            </a:r>
          </a:p>
          <a:p>
            <a:r>
              <a:rPr lang="en-US" sz="3200" dirty="0"/>
              <a:t>Taking action to mitigate the vulnerabilities that are found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What is the Vulnerability Management Life Cycle?</a:t>
            </a:r>
          </a:p>
        </p:txBody>
      </p:sp>
    </p:spTree>
    <p:extLst>
      <p:ext uri="{BB962C8B-B14F-4D97-AF65-F5344CB8AC3E}">
        <p14:creationId xmlns:p14="http://schemas.microsoft.com/office/powerpoint/2010/main" val="2642560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Creating Baseline</a:t>
            </a:r>
          </a:p>
          <a:p>
            <a:pPr marL="0" indent="0">
              <a:buNone/>
            </a:pPr>
            <a:r>
              <a:rPr lang="en-US" sz="3200" dirty="0"/>
              <a:t>Vulnerability Assessment</a:t>
            </a:r>
          </a:p>
          <a:p>
            <a:pPr marL="0" indent="0">
              <a:buNone/>
            </a:pPr>
            <a:r>
              <a:rPr lang="en-US" sz="3200" dirty="0"/>
              <a:t>Risk Assessment</a:t>
            </a:r>
          </a:p>
          <a:p>
            <a:pPr marL="0" indent="0">
              <a:buNone/>
            </a:pPr>
            <a:r>
              <a:rPr lang="en-US" sz="3200" dirty="0"/>
              <a:t>	* Post Assessment (recommendation)</a:t>
            </a:r>
          </a:p>
          <a:p>
            <a:pPr marL="0" indent="0">
              <a:buNone/>
            </a:pPr>
            <a:r>
              <a:rPr lang="en-US" sz="3200" dirty="0"/>
              <a:t>Remediation</a:t>
            </a:r>
          </a:p>
          <a:p>
            <a:pPr marL="0" indent="0">
              <a:buNone/>
            </a:pPr>
            <a:r>
              <a:rPr lang="en-US" sz="3200" dirty="0"/>
              <a:t>Verification</a:t>
            </a:r>
          </a:p>
          <a:p>
            <a:pPr marL="0" indent="0">
              <a:buNone/>
            </a:pPr>
            <a:r>
              <a:rPr lang="en-US" sz="3200" dirty="0"/>
              <a:t>Monitor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Phases of the Vulnerability Management Life Cycle</a:t>
            </a:r>
          </a:p>
        </p:txBody>
      </p:sp>
    </p:spTree>
    <p:extLst>
      <p:ext uri="{BB962C8B-B14F-4D97-AF65-F5344CB8AC3E}">
        <p14:creationId xmlns:p14="http://schemas.microsoft.com/office/powerpoint/2010/main" val="3948551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200" dirty="0"/>
              <a:t>1. Identify and understand business processes </a:t>
            </a:r>
          </a:p>
          <a:p>
            <a:pPr marL="0" indent="0">
              <a:buNone/>
            </a:pPr>
            <a:r>
              <a:rPr lang="en-US" sz="3200" dirty="0"/>
              <a:t>2. Identify the applications, data, and services that support the business processes </a:t>
            </a:r>
          </a:p>
          <a:p>
            <a:pPr marL="0" indent="0">
              <a:buNone/>
            </a:pPr>
            <a:r>
              <a:rPr lang="en-US" sz="3200" dirty="0"/>
              <a:t>3. Create an inventory of all assets, and prioritize/rank the critical assets </a:t>
            </a:r>
          </a:p>
          <a:p>
            <a:pPr marL="0" indent="0">
              <a:buNone/>
            </a:pPr>
            <a:r>
              <a:rPr lang="en-US" sz="3200" dirty="0"/>
              <a:t>4. Map the network infrastructure </a:t>
            </a:r>
          </a:p>
          <a:p>
            <a:pPr marL="0" indent="0">
              <a:buNone/>
            </a:pPr>
            <a:r>
              <a:rPr lang="en-US" sz="3200" dirty="0"/>
              <a:t>5. Identify the controls already in place </a:t>
            </a:r>
          </a:p>
          <a:p>
            <a:pPr marL="0" indent="0">
              <a:buNone/>
            </a:pPr>
            <a:r>
              <a:rPr lang="en-US" sz="3200" dirty="0"/>
              <a:t>6. Understand policy implementation and standards compliance to the business processes </a:t>
            </a:r>
          </a:p>
          <a:p>
            <a:pPr marL="0" indent="0">
              <a:buNone/>
            </a:pPr>
            <a:r>
              <a:rPr lang="en-US" sz="3200" dirty="0"/>
              <a:t>7. Define the scope of the assessment </a:t>
            </a:r>
          </a:p>
          <a:p>
            <a:pPr marL="0" indent="0">
              <a:buNone/>
            </a:pPr>
            <a:r>
              <a:rPr lang="en-US" sz="3200" dirty="0"/>
              <a:t>8. Create information protection procedures to support effective planning, scheduling, coordination, and logistics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creating a baseline:</a:t>
            </a:r>
          </a:p>
        </p:txBody>
      </p:sp>
    </p:spTree>
    <p:extLst>
      <p:ext uri="{BB962C8B-B14F-4D97-AF65-F5344CB8AC3E}">
        <p14:creationId xmlns:p14="http://schemas.microsoft.com/office/powerpoint/2010/main" val="3626277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sz="3200" dirty="0"/>
              <a:t>1. Examine and evaluate physical security </a:t>
            </a:r>
          </a:p>
          <a:p>
            <a:pPr marL="0" indent="0">
              <a:buNone/>
            </a:pPr>
            <a:r>
              <a:rPr lang="en-US" sz="3200" dirty="0"/>
              <a:t>2. Check for misconfigurations and human errors </a:t>
            </a:r>
          </a:p>
          <a:p>
            <a:pPr marL="0" indent="0">
              <a:buNone/>
            </a:pPr>
            <a:r>
              <a:rPr lang="en-US" sz="3200" dirty="0"/>
              <a:t>3. Run vulnerability scans using tools </a:t>
            </a:r>
          </a:p>
          <a:p>
            <a:pPr marL="0" indent="0">
              <a:buNone/>
            </a:pPr>
            <a:r>
              <a:rPr lang="en-US" sz="3200" dirty="0"/>
              <a:t>4. Identify and prioritize vulnerabilities </a:t>
            </a:r>
          </a:p>
          <a:p>
            <a:pPr marL="0" indent="0">
              <a:buNone/>
            </a:pPr>
            <a:r>
              <a:rPr lang="en-US" sz="3200" dirty="0"/>
              <a:t>5. Apply business and technology context to scanner results </a:t>
            </a:r>
          </a:p>
          <a:p>
            <a:pPr marL="0" indent="0">
              <a:buNone/>
            </a:pPr>
            <a:r>
              <a:rPr lang="en-US" sz="3200" dirty="0"/>
              <a:t>6. Perform OSINT information gathering to validate the vulnerabilities</a:t>
            </a:r>
          </a:p>
          <a:p>
            <a:pPr marL="0" indent="0">
              <a:buNone/>
            </a:pPr>
            <a:r>
              <a:rPr lang="en-US" sz="3200" dirty="0"/>
              <a:t>7. Create a vulnerability scan report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Vulnerability Assessment:</a:t>
            </a:r>
          </a:p>
        </p:txBody>
      </p:sp>
    </p:spTree>
    <p:extLst>
      <p:ext uri="{BB962C8B-B14F-4D97-AF65-F5344CB8AC3E}">
        <p14:creationId xmlns:p14="http://schemas.microsoft.com/office/powerpoint/2010/main" val="25195549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1. Perform risk characterization </a:t>
            </a:r>
          </a:p>
          <a:p>
            <a:pPr marL="0" indent="0">
              <a:buNone/>
            </a:pPr>
            <a:r>
              <a:rPr lang="en-US" sz="3200" dirty="0"/>
              <a:t>2. Assess the level of impact </a:t>
            </a:r>
          </a:p>
          <a:p>
            <a:pPr marL="0" indent="0">
              <a:buNone/>
            </a:pPr>
            <a:r>
              <a:rPr lang="en-US" sz="3200" dirty="0"/>
              <a:t>3. Determine the threat and risk level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Risk Assessment:</a:t>
            </a:r>
          </a:p>
        </p:txBody>
      </p:sp>
    </p:spTree>
    <p:extLst>
      <p:ext uri="{BB962C8B-B14F-4D97-AF65-F5344CB8AC3E}">
        <p14:creationId xmlns:p14="http://schemas.microsoft.com/office/powerpoint/2010/main" val="33569674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1. Making the priority list for assessment recommendations </a:t>
            </a:r>
          </a:p>
          <a:p>
            <a:pPr marL="0" indent="0">
              <a:buNone/>
            </a:pPr>
            <a:r>
              <a:rPr lang="en-US" sz="3200" dirty="0"/>
              <a:t>2. Developing an action plan to implement the proposed recommendation </a:t>
            </a:r>
          </a:p>
          <a:p>
            <a:pPr marL="0" indent="0">
              <a:buNone/>
            </a:pPr>
            <a:r>
              <a:rPr lang="en-US" sz="3200" dirty="0"/>
              <a:t>3. Capturing lessons learned to improve the complete process in the future</a:t>
            </a:r>
          </a:p>
          <a:p>
            <a:pPr marL="0" indent="0">
              <a:buNone/>
            </a:pPr>
            <a:r>
              <a:rPr lang="en-US" sz="3200" dirty="0"/>
              <a:t>4. Conducting training for the employees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</a:t>
            </a:r>
            <a:r>
              <a:rPr lang="en-US" sz="3200" dirty="0"/>
              <a:t>Post Assessment (Recommendation) </a:t>
            </a:r>
            <a:r>
              <a:rPr lang="en-US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717014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1. Prioritize recommendations </a:t>
            </a:r>
          </a:p>
          <a:p>
            <a:pPr marL="0" indent="0">
              <a:buNone/>
            </a:pPr>
            <a:r>
              <a:rPr lang="en-US" sz="3200" dirty="0"/>
              <a:t>2. Develop an action plan to implement the recommendation </a:t>
            </a:r>
          </a:p>
          <a:p>
            <a:pPr marL="0" indent="0">
              <a:buNone/>
            </a:pPr>
            <a:r>
              <a:rPr lang="en-US" sz="3200" dirty="0"/>
              <a:t>3. Perform root-cause analysis </a:t>
            </a:r>
          </a:p>
          <a:p>
            <a:pPr marL="0" indent="0">
              <a:buNone/>
            </a:pPr>
            <a:r>
              <a:rPr lang="en-US" sz="3200" dirty="0"/>
              <a:t>4. Apply patches/fixes </a:t>
            </a:r>
          </a:p>
          <a:p>
            <a:pPr marL="0" indent="0">
              <a:buNone/>
            </a:pPr>
            <a:r>
              <a:rPr lang="en-US" sz="3200" dirty="0"/>
              <a:t>5. Capture lessons learned </a:t>
            </a:r>
          </a:p>
          <a:p>
            <a:pPr marL="0" indent="0">
              <a:buNone/>
            </a:pPr>
            <a:r>
              <a:rPr lang="en-US" sz="3200" dirty="0"/>
              <a:t>6. Conduct awareness training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Remediation:</a:t>
            </a:r>
          </a:p>
        </p:txBody>
      </p:sp>
    </p:spTree>
    <p:extLst>
      <p:ext uri="{BB962C8B-B14F-4D97-AF65-F5344CB8AC3E}">
        <p14:creationId xmlns:p14="http://schemas.microsoft.com/office/powerpoint/2010/main" val="3774388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C5896C-DD8F-413B-9A15-7910B7CB7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4803" y="1550970"/>
            <a:ext cx="10747031" cy="43580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1. Monitoring intrusion detection and intrusion prevention logs </a:t>
            </a:r>
          </a:p>
          <a:p>
            <a:pPr marL="0" indent="0">
              <a:buNone/>
            </a:pPr>
            <a:r>
              <a:rPr lang="en-US" sz="3200" dirty="0"/>
              <a:t>2. Implementation of policies, procedures, and controls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F6B1E-60E2-4214-BA96-ABD6176EBF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758" y="-21891"/>
            <a:ext cx="11175123" cy="1041991"/>
          </a:xfrm>
        </p:spPr>
        <p:txBody>
          <a:bodyPr/>
          <a:lstStyle/>
          <a:p>
            <a:r>
              <a:rPr lang="en-US" dirty="0"/>
              <a:t>Steps involved in Monitoring:</a:t>
            </a:r>
          </a:p>
        </p:txBody>
      </p:sp>
    </p:spTree>
    <p:extLst>
      <p:ext uri="{BB962C8B-B14F-4D97-AF65-F5344CB8AC3E}">
        <p14:creationId xmlns:p14="http://schemas.microsoft.com/office/powerpoint/2010/main" val="3807316975"/>
      </p:ext>
    </p:extLst>
  </p:cSld>
  <p:clrMapOvr>
    <a:masterClrMapping/>
  </p:clrMapOvr>
</p:sld>
</file>

<file path=ppt/theme/theme1.xml><?xml version="1.0" encoding="utf-8"?>
<a:theme xmlns:a="http://schemas.openxmlformats.org/drawingml/2006/main" name="2019 Presentation Dark Theme">
  <a:themeElements>
    <a:clrScheme name="6cc241">
      <a:dk1>
        <a:srgbClr val="151945"/>
      </a:dk1>
      <a:lt1>
        <a:srgbClr val="FFFFFF"/>
      </a:lt1>
      <a:dk2>
        <a:srgbClr val="151746"/>
      </a:dk2>
      <a:lt2>
        <a:srgbClr val="FFFFFF"/>
      </a:lt2>
      <a:accent1>
        <a:srgbClr val="F9F9FA"/>
      </a:accent1>
      <a:accent2>
        <a:srgbClr val="FF671F"/>
      </a:accent2>
      <a:accent3>
        <a:srgbClr val="00A3E0"/>
      </a:accent3>
      <a:accent4>
        <a:srgbClr val="10069F"/>
      </a:accent4>
      <a:accent5>
        <a:srgbClr val="6CC249"/>
      </a:accent5>
      <a:accent6>
        <a:srgbClr val="9C9BA7"/>
      </a:accent6>
      <a:hlink>
        <a:srgbClr val="FF671F"/>
      </a:hlink>
      <a:folHlink>
        <a:srgbClr val="FF671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OW_ONLY" id="{65C80431-16F2-514A-97BA-71A18EFAAF0C}" vid="{8E954B59-A4E7-B141-A2A5-05D60EBF4B6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1F4BBF0267C540AB0714A5A9B8B2A0" ma:contentTypeVersion="13" ma:contentTypeDescription="Create a new document." ma:contentTypeScope="" ma:versionID="6b71af909276ca060a08b3157d1d9f21">
  <xsd:schema xmlns:xsd="http://www.w3.org/2001/XMLSchema" xmlns:xs="http://www.w3.org/2001/XMLSchema" xmlns:p="http://schemas.microsoft.com/office/2006/metadata/properties" xmlns:ns2="25f43890-8f97-4037-b6ca-5734ee50196d" xmlns:ns3="7de64167-ec1d-41c3-9c60-bdac5dd5df14" targetNamespace="http://schemas.microsoft.com/office/2006/metadata/properties" ma:root="true" ma:fieldsID="607d6bf6d8f5d26c8c8fd76553af5be9" ns2:_="" ns3:_="">
    <xsd:import namespace="25f43890-8f97-4037-b6ca-5734ee50196d"/>
    <xsd:import namespace="7de64167-ec1d-41c3-9c60-bdac5dd5df14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_Flow_SignoffStatu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f43890-8f97-4037-b6ca-5734ee5019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e64167-ec1d-41c3-9c60-bdac5dd5df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_Flow_SignoffStatus" ma:index="16" nillable="true" ma:displayName="Sign-off status" ma:internalName="Sign_x002d_off_x0020_status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7de64167-ec1d-41c3-9c60-bdac5dd5df14" xsi:nil="true"/>
  </documentManagement>
</p:properties>
</file>

<file path=customXml/itemProps1.xml><?xml version="1.0" encoding="utf-8"?>
<ds:datastoreItem xmlns:ds="http://schemas.openxmlformats.org/officeDocument/2006/customXml" ds:itemID="{E3752C47-9E96-4B20-9047-BCA726079696}"/>
</file>

<file path=customXml/itemProps2.xml><?xml version="1.0" encoding="utf-8"?>
<ds:datastoreItem xmlns:ds="http://schemas.openxmlformats.org/officeDocument/2006/customXml" ds:itemID="{1412C09E-60DC-40D9-9C5A-A960D59ED993}"/>
</file>

<file path=customXml/itemProps3.xml><?xml version="1.0" encoding="utf-8"?>
<ds:datastoreItem xmlns:ds="http://schemas.openxmlformats.org/officeDocument/2006/customXml" ds:itemID="{897621ED-ED6A-4AAD-B0D6-F7182A893F79}"/>
</file>

<file path=docProps/app.xml><?xml version="1.0" encoding="utf-8"?>
<Properties xmlns="http://schemas.openxmlformats.org/officeDocument/2006/extended-properties" xmlns:vt="http://schemas.openxmlformats.org/officeDocument/2006/docPropsVTypes">
  <TotalTime>2362</TotalTime>
  <Words>552</Words>
  <Application>Microsoft Office PowerPoint</Application>
  <PresentationFormat>Widescreen</PresentationFormat>
  <Paragraphs>96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Adelle Sans</vt:lpstr>
      <vt:lpstr>Arial</vt:lpstr>
      <vt:lpstr>Calibri</vt:lpstr>
      <vt:lpstr>Courier New</vt:lpstr>
      <vt:lpstr>Proxima Nova</vt:lpstr>
      <vt:lpstr>Proxima Nova Semibold</vt:lpstr>
      <vt:lpstr>2019 Presentation Dark Theme</vt:lpstr>
      <vt:lpstr>What is a Vulnerability?</vt:lpstr>
      <vt:lpstr>What are some common Vulnerability Research Websites?</vt:lpstr>
      <vt:lpstr>Are there Vulnerability Classifications?</vt:lpstr>
      <vt:lpstr>Are there Vulnerability Classifications?</vt:lpstr>
      <vt:lpstr>What is a Vulnerability Assessment?</vt:lpstr>
      <vt:lpstr>Types of Vulnerability Assessments</vt:lpstr>
      <vt:lpstr>What is the Vulnerability Management Life Cycle?</vt:lpstr>
      <vt:lpstr>Phases of the Vulnerability Management Life Cycle</vt:lpstr>
      <vt:lpstr>Steps involved in creating a baseline:</vt:lpstr>
      <vt:lpstr>Steps involved in Vulnerability Assessment:</vt:lpstr>
      <vt:lpstr>Steps involved in Risk Assessment:</vt:lpstr>
      <vt:lpstr>Steps involved in Post Assessment (Recommendation) :</vt:lpstr>
      <vt:lpstr>Steps involved in Remediation:</vt:lpstr>
      <vt:lpstr>Steps involved in Monitoring: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Manage identity and access (20-25%)</dc:title>
  <dc:creator>Adam Gordon</dc:creator>
  <cp:lastModifiedBy>Adam Gordon</cp:lastModifiedBy>
  <cp:revision>70</cp:revision>
  <cp:lastPrinted>2020-04-29T19:12:33Z</cp:lastPrinted>
  <dcterms:created xsi:type="dcterms:W3CDTF">2020-04-24T18:08:50Z</dcterms:created>
  <dcterms:modified xsi:type="dcterms:W3CDTF">2020-08-17T17:51:26Z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0x0101006C1F4BBF0267C540AB0714A5A9B8B2A0</vt:lpwstr>
  </property>
</Properties>
</file>